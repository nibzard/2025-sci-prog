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7" r:id="rId9"/>
    <p:sldId id="270" r:id="rId10"/>
    <p:sldId id="271" r:id="rId11"/>
    <p:sldId id="275" r:id="rId12"/>
    <p:sldId id="261" r:id="rId13"/>
    <p:sldId id="262" r:id="rId14"/>
    <p:sldId id="272" r:id="rId15"/>
    <p:sldId id="273" r:id="rId16"/>
    <p:sldId id="263" r:id="rId17"/>
    <p:sldId id="264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68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 smtClean="0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85474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55359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76563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96002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24314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1155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2484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68432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 smtClean="0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46814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31467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2874686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67942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 cit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5211864"/>
      </p:ext>
    </p:extLst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ili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78211"/>
      </p:ext>
    </p:extLst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43178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47657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5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ransition spd="slow">
    <p:cover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9465"/>
            <a:ext cx="9225280" cy="3270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4435" y="1512453"/>
            <a:ext cx="5826719" cy="2010462"/>
          </a:xfrm>
        </p:spPr>
        <p:txBody>
          <a:bodyPr/>
          <a:lstStyle/>
          <a:p>
            <a:pPr algn="ctr"/>
            <a:r>
              <a:rPr dirty="0" err="1"/>
              <a:t>Predikcija</a:t>
            </a:r>
            <a:r>
              <a:rPr dirty="0"/>
              <a:t> Customer Churn-a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4515" y="3455997"/>
            <a:ext cx="5826719" cy="1124565"/>
          </a:xfrm>
        </p:spPr>
        <p:txBody>
          <a:bodyPr>
            <a:normAutofit lnSpcReduction="10000"/>
          </a:bodyPr>
          <a:lstStyle/>
          <a:p>
            <a:r>
              <a:rPr lang="hr-HR" dirty="0" smtClean="0"/>
              <a:t>Znanstveno programiranje</a:t>
            </a:r>
          </a:p>
          <a:p>
            <a:r>
              <a:rPr lang="hr-HR" dirty="0" smtClean="0"/>
              <a:t>Marija Golemac</a:t>
            </a:r>
          </a:p>
          <a:p>
            <a:r>
              <a:rPr dirty="0" smtClean="0"/>
              <a:t>2025/2026</a:t>
            </a:r>
            <a:endParaRPr dirty="0"/>
          </a:p>
        </p:txBody>
      </p:sp>
      <p:sp>
        <p:nvSpPr>
          <p:cNvPr id="5" name="Pravokutnik 4"/>
          <p:cNvSpPr/>
          <p:nvPr/>
        </p:nvSpPr>
        <p:spPr>
          <a:xfrm>
            <a:off x="4744720" y="4172565"/>
            <a:ext cx="1838960" cy="815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Uvod u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Customer churn = odlazak korisnika</a:t>
            </a:r>
          </a:p>
          <a:p>
            <a:r>
              <a:t>Važno za telekom kompanije (gubitak prihoda)</a:t>
            </a:r>
          </a:p>
          <a:p>
            <a:r>
              <a:t>Cilj: predvidjeti hoće li korisnik otići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069362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IBM Telco Customer Churn </a:t>
            </a:r>
            <a:r>
              <a:rPr dirty="0" smtClean="0"/>
              <a:t>dataset</a:t>
            </a:r>
            <a:r>
              <a:rPr lang="hr-HR" dirty="0" smtClean="0"/>
              <a:t> </a:t>
            </a:r>
            <a:r>
              <a:rPr lang="hr-HR" dirty="0" smtClean="0"/>
              <a:t>(</a:t>
            </a:r>
            <a:r>
              <a:rPr dirty="0" smtClean="0"/>
              <a:t>7043 </a:t>
            </a:r>
            <a:r>
              <a:rPr dirty="0" err="1"/>
              <a:t>korisnika</a:t>
            </a:r>
            <a:r>
              <a:rPr dirty="0"/>
              <a:t>, 33 </a:t>
            </a:r>
            <a:r>
              <a:rPr dirty="0" err="1" smtClean="0"/>
              <a:t>varijable</a:t>
            </a:r>
            <a:r>
              <a:rPr lang="hr-HR" dirty="0" smtClean="0"/>
              <a:t>)</a:t>
            </a:r>
            <a:endParaRPr dirty="0"/>
          </a:p>
          <a:p>
            <a:r>
              <a:rPr dirty="0" err="1"/>
              <a:t>Demografija</a:t>
            </a:r>
            <a:r>
              <a:rPr dirty="0"/>
              <a:t>, </a:t>
            </a:r>
            <a:r>
              <a:rPr dirty="0" err="1"/>
              <a:t>usluge</a:t>
            </a:r>
            <a:r>
              <a:rPr dirty="0"/>
              <a:t>, </a:t>
            </a:r>
            <a:r>
              <a:rPr dirty="0" err="1"/>
              <a:t>ugovor</a:t>
            </a:r>
            <a:r>
              <a:rPr dirty="0"/>
              <a:t>, </a:t>
            </a:r>
            <a:r>
              <a:rPr dirty="0" err="1" smtClean="0"/>
              <a:t>financije</a:t>
            </a:r>
            <a:endParaRPr lang="hr-HR" dirty="0" smtClean="0"/>
          </a:p>
          <a:p>
            <a:r>
              <a:rPr lang="hr-HR" dirty="0"/>
              <a:t>Ciljna varijabla je </a:t>
            </a:r>
            <a:r>
              <a:rPr lang="hr-HR" i="1" dirty="0" err="1"/>
              <a:t>Churn</a:t>
            </a:r>
            <a:r>
              <a:rPr lang="hr-HR" i="1" dirty="0"/>
              <a:t> </a:t>
            </a:r>
            <a:r>
              <a:rPr lang="hr-HR" i="1" dirty="0" err="1"/>
              <a:t>Label</a:t>
            </a:r>
            <a:r>
              <a:rPr lang="hr-HR" dirty="0"/>
              <a:t>, koja označava je li korisnik napustio uslugu.</a:t>
            </a:r>
          </a:p>
          <a:p>
            <a:endParaRPr dirty="0"/>
          </a:p>
        </p:txBody>
      </p:sp>
      <p:sp>
        <p:nvSpPr>
          <p:cNvPr id="6" name="AutoShape 4" descr="data:image/png;base64,iVBORw0KGgoAAAANSUhEUgAAAiUAAAGJCAYAAABVW0PjAAAAOnRFWHRTb2Z0d2FyZQBNYXRwbG90bGliIHZlcnNpb24zLjEwLjAsIGh0dHBzOi8vbWF0cGxvdGxpYi5vcmcvlHJYcgAAAAlwSFlzAAAPYQAAD2EBqD+naQAAQuZJREFUeJzt3Xtczvf/P/DH1eG6SnVdOXRcSYQOIjKEEaK12Adhmg8i52xTTvOZQ2yTw8chhxzmkA0z55lGmkM2mtHWhLRYZB8qRl1Oler9+8Ov99elVJfVrvdcj/vtdt10vd6v9+v9fL+vq+t6eJ+SCYIggIiIiEjHDHRdABERERHAUEJEREQSwVBCREREksBQQkRERJLAUEJERESSwFBCREREksBQQkRERJLAUEJERESSwFBCREREksBQQnrL19cXvr6+4vNr165BJpMhNjZW67FOnDgBmUyGEydO1EhtsbGxkMlkOHfuXI2M9yJ/ZZ2ro6Lt4uvrixYtWtTK8qhijRo1Qu/evXVdBlGVGEqoQmVfimUPIyMjvPbaawgJCcH//vc/XZdHRHps+/btWL58+UvP/+jRI0RGRtbYfyKo5hjpugCStnnz5sHZ2RkFBQX48ccfERsbix9++AEXLlyAiYmJrsurUU5OTnj8+DGMjY11XcrfprbXuUuXLnj8+DHkcnmtjE/6afv27bhw4QImTZr0UvM/evQIc+fOBQCNvaWkewwlVKmAgAC0bdsWADBq1Cg0aNAACxcuxIEDBzBo0CAdV1ezZDLZKxe0XqS4uBilpaWQy+W1us4GBgb/uG368OFDmJmZ6bqMfxxBEFBQUABTU1Ndl0L/YDx8Q1p54403AABXr14V24qKijB79mx4e3tDpVLBzMwMb7zxBo4fP15u/h07dsDb2xsWFhZQKpXw9PREdHS0OL3ssNHJkycxduxY1K9fH0qlEsOGDcO9e/fKjRcTEwMPDw8oFArY29sjLCwMeXl55fqtX78eTZo0gampKdq1a4fvv/++XJ8XnV9x+fJlDBgwAPXq1YOJiQnatm2LAwcOVLmtvv/+ewwcOBANGzaEQqGAo6MjwsPD8fjx4yrnrci9e/fQrl07ODg4ID09HQCQm5uL0NBQ2NjYwMTEBK1atcKWLVsqXK///ve/WL58OZo0aQKFQoFLly5VuM7Z2dkYMWIEHBwcoFAoYGdnh3/961+4du2a2KfsHIUffvgB7dq1g4mJCRo3bozPP/9cY9nVPdfmyJEjqFOnDoKDg1FcXKzVe6oiZfUdOXIEXl5eMDExgbu7O/bu3avRr+z9lpiYiAkTJsDa2hoODg7i9EOHDuGNN96AmZkZLCwsEBgYiIsXL2qMERISAnNzc2RlZaF3794wNzfHa6+9htWrVwMAUlNT0b17d5iZmcHJyQnbt2/XmP/u3buYMmUKPD09YW5uDqVSiYCAAPz666/VWlcA2Lp1K9q1a4c6deqgbt266NKlC44cOVKuX1WvV2RkJGQyWbn5yrZTRe+B+Ph4tG3bFqampli3bp34mu/cuROffvopHBwcYGJigh49euDKlStVrsv9+/cxadIkNGrUCAqFAtbW1ujZsyd+/vlnAE/3bMTFxeH69evi4eVGjRoBqN5n0bVr12BlZQUAmDt3rjhGZGSkOH5Fe09CQkLE5ZSp6vNMm+1JTzGUkFbKfonq1q0rtqnVamzYsAG+vr5YuHAhIiMjcfv2bfj7+yMlJUXsl5CQgODgYNStWxcLFy7EggUL4Ovri1OnTpVbzsSJE5GWlobIyEgMGzYM27ZtQ9++fSEIgtgnMjISYWFhsLe3x5IlSxAUFIR169ahV69eePLkidhv48aNGDt2LGxtbbFo0SJ06tQJb7/9Nm7cuFHl+l68eBEdOnRAWloaPvzwQyxZsgRmZmbo27cv9u3bV+m8u3btwqNHjzB+/HisXLkS/v7+WLlyJYYNG1blcp93584ddO/eHTk5OUhMTETz5s3x+PFj+Pr64osvvsCQIUOwePFiqFQqhISEaHwwltm8eTNWrlyJMWPGYMmSJahXr16FywoKCsK+ffswYsQIxMTE4P3338f9+/eRlZWl0e/KlSsYMGAAevbsiSVLlqBu3boICQkp96VdlYMHD+Ltt9/GwIEDsXXrVhgZGVX7PVWZjIwMvPPOOwgICEBUVBSMjIwwcOBAJCQklOs7YcIEXLp0CbNnz8aHH34IAPjiiy8QGBgIc3NzLFy4ELNmzcKlS5fQuXPncl8mJSUlCAgIgKOjIxYtWoRGjRph4sSJiI2NxZtvvom2bdti4cKFsLCwwLBhw5CZmSnO+/vvv2P//v3o3bs3li5diqlTpyI1NRVdu3bFzZs3q1zPuXPnYujQoTA2Nsa8efMwd+5cODo64tixYxr9aur1elZ6ejqCg4PRs2dPREdHw8vLS5y2YMEC7Nu3D1OmTMGMGTPw448/YsiQIVWOOW7cOKxZswZBQUGIiYnBlClTYGpqirS0NADARx99BC8vLzRo0ABffPEFvvjiC/H8kuq8b6ysrLBmzRoAQL9+/cQx+vfvr9W6a/N5RloQiCqwefNmAYDw3XffCbdv3xZu3Lgh7N69W7CyshIUCoVw48YNsW9xcbFQWFioMf+9e/cEGxsbYeTIkWLbBx98ICiVSqG4uLjK5Xp7ewtFRUVi+6JFiwQAwtdffy0IgiDk5uYKcrlc6NWrl1BSUiL2W7VqlQBA2LRpkyAIglBUVCRYW1sLXl5eGjWuX79eACB07dpVbMvMzBQACJs3bxbbevToIXh6egoFBQViW2lpqdCxY0ehadOmYtvx48cFAMLx48fFtkePHpVbv6ioKEEmkwnXr19/4TZ4djucPXtWuHXrluDh4SE0btxYuHbtmthn+fLlAgBh69atYltRUZHg4+MjmJubC2q1WmO9lEqlkJubq7Gc59f53r17AgBh8eLFldbn5OQkABBOnjwptuXm5goKhUKYPHlypdula9eugoeHhyAIgrBnzx7B2NhYGD16tMbrWN33VFX17dmzR2zLz88X7OzshNatW4ttZdu5c+fOGu/L+/fvC5aWlsLo0aM1xs3OzhZUKpVG+/DhwwUAwvz58zVqNTU1FWQymbBjxw6x/fLlywIAYc6cOWJbQUGBxroLwtPXRaFQCPPmzat0PTMyMgQDAwOhX79+5cYoLS0ttz2qer3mzJkjVPS1ULadMjMzy415+PBhjb5lr7mbm5vGaxgdHS0AEFJTUytdJ5VKJYSFhVXaJzAwUHBycirXXt33ze3bt8u9DmW6du2q8blQZvjw4RrLrM7nmTbbk57inhKqlJ+fH6ysrODo6IgBAwbAzMwMBw4c0NjFbWhoKJ7IWFpairt376K4uBht27YVd7kCgKWlJR4+fFjh/1SfN2bMGI2TL8ePHw8jIyN8++23AIDvvvsORUVFmDRpEgwM/u9tPHr0aCiVSsTFxQEAzp07h9zcXIwbN07jZMuQkBCoVKpKa7h79y6OHTuGQYMG4f79+7hz5w7u3LmDP//8E/7+/sjIyKj0SqRnj60/fPgQd+7cQceOHSEIAn755ZcqtwEA/PHHH+jatSuePHmCkydPwsnJSZz27bffwtbWFsHBwWKbsbEx3n//fTx48ACJiYkaYwUFBYm7rSurWS6X48SJExUeLnuWu7u7eDgPePo/0ObNm+P333+v1rp9+eWXeOeddzB27FisW7dO43Ws7nuqMvb29ujXr5/4vOww4C+//ILs7GyNvqNHj4ahoaH4PCEhAXl5eQgODhZf9zt37sDQ0BDt27ev8DDSqFGjxJ8tLS3RvHlzmJmZaZx71bx5c1haWmpsI4VCIa57SUkJ/vzzT5ibm6N58+ZVruv+/ftRWlqK2bNna2w/AOUOG/zV16sizs7O8Pf3r3DaiBEjNH7nypZd1fIsLS1x5syZau0lel5NvG+qS5vPM6o+hhKq1OrVq5GQkIDdu3fjrbfewp07d6BQKMr127JlC1q2bAkTExPUr18fVlZWiIuLQ35+vthnwoQJaNasGQICAuDg4ICRI0fi8OHDFS63adOmGs/Nzc1hZ2cn7ja/fv06gKcf8s+Sy+Vo3LixOL3s3+fHMzY2RuPGjStd9ytXrkAQBMyaNQtWVlYajzlz5gB4ek7Hi2RlZSEkJAT16tWDubk5rKys0LVrVwDQ2C6VGTp0KHJzc5GYmIjXXntNY9r169fRtGnTcl9Gbm5u4vRnOTs7V7k8hUKBhQsX4tChQ7CxsUGXLl2waNGicl/iANCwYcNybXXr1q0yzABAZmYm/v3vfyMoKAgrV66s8Lh7dd5TlXFxcSk3brNmzQCg3OGX57dNRkYGAKB79+7lXvsjR46Ue91NTEzKBT6VSgUHB4dyNahUKo1tVFpaimXLlqFp06ZQKBRo0KABrKyscP78+SrX9erVqzAwMIC7u3ul/YC/9nq9SGXvqeeXV3bIt6rlLVq0CBcuXICjoyPatWuHyMhIrYLTX33fVJc2n2dUfQwlVKl27drBz88PQUFBOHDgAFq0aIF3330XDx48EPts3boVISEhaNKkCTZu3IjDhw8jISEB3bt3R2lpqdjP2toaKSkpOHDgAN5++20cP34cAQEBGD58uC5WrUpltU+ZMgUJCQkVPlxcXCqct6SkBD179kRcXBymT5+O/fv3IyEhQTyh9NntUpn+/fsjLy+vwnNEtFXdqyImTZqE3377DVFRUTAxMcGsWbPg5uZWbu/Os3sWniU8c97Pi9jZ2aFjx4749ttvK7xBXHXfUzXl+W1Ttowvvviiwtf966+/1uj/om1RnW00f/58REREoEuXLti6dSvi4+ORkJAADw+PGl3X6tRSUTgEnr6fK1LZe+pl3x+DBg3C77//jpUrV8Le3h6LFy+Gh4cHDh06VOl8QM28b6q7Darzeabt9iReEkxaMDQ0RFRUFLp164ZVq1aJJwTu3r0bjRs3xt69ezV+Ccv2JjxLLpejT58+6NOnD0pLSzFhwgSsW7cOs2bN0viCz8jIQLdu3cTnDx48wK1bt/DWW28BgHgYIz09XWOPR1FRETIzM+Hn56fRLyMjA927dxf7PXnyBJmZmWjVqtUL17dsXGNjY3G86kpNTcVvv/2GLVu2aJzYqu2u3vfeew8uLi6YPXs2VCqVuM2Bp+t2/vx5lJaWauwtuXz5sjj9ZTVp0gSTJ0/G5MmTkZGRAS8vLyxZsgRbt2596TGfZWJigoMHD6J79+548803kZiYCA8PD3G6Nu+pFynb0/Xs/L/99hsAlLuK4nlNmjQB8PSLR9vXXlu7d+9Gt27dsHHjRo32vLw8NGjQoNJ5mzRpgtLSUly6dEnjJNOXVbY3Iy8vD5aWlmL783vdapudnR0mTJiACRMmIDc3F23atMGnn36KgIAAAC/+sq/u++ZF8wNPt0FFe2Yq2gZVfZ5JZXv+k3BPCWnF19cX7dq1w/Lly1FQUADg//5H9Oz/gM6cOYOkpCSNef/880+N5wYGBmjZsiUAoLCwUGPa+vXrNa6gWbNmDYqLi8UPJT8/P8jlcqxYsUJjuRs3bkR+fj4CAwMBAG3btoWVlRXWrl2LoqIisV9sbGyFlw4/y9raGr6+vli3bh1u3bpVbvrt27dfOG9F20QQhJfa4zFr1izxCoayqwYA4K233kJ2dja++uorsa24uBgrV66Eubm5eKhIG48ePRJf1zJNmjSBhYVFudfor1KpVIiPjxcv+Xz2MvPqvqcqc/PmTY0rpNRqNT7//HN4eXnB1ta20nn9/f2hVCoxf/58jfdhmcpee20ZGhqW23uwa9euat05uW/fvjAwMMC8efPK7Qmozh6r55WFsZMnT4ptDx8+LHeZeW0pKSkpd5jF2toa9vb2Gu8/MzOzCg/HVPd9U6dOHQCo8DOgSZMmuHz5ssZr/Ouvv5a7qqY6n2e63p7/RNxTQlqbOnUqBg4ciNjYWIwbNw69e/fG3r170a9fPwQGBiIzMxNr166Fu7u7xmGeUaNG4e7du+jevTscHBxw/fp1rFy5El5eXuJ5EGWKiorQo0cPDBo0COnp6YiJiUHnzp3x9ttvA3h6kt6MGTMwd+5cvPnmm3j77bfFfq+//jr+/e9/A3i6l+OTTz7B2LFj0b17d7zzzjvIzMzE5s2bqzynBHh6Tk3nzp3h6emJ0aNHo3HjxsjJyUFSUhL++OOPF95LwtXVFU2aNMGUKVPwv//9D0qlEnv27Hnp4/eLFy9Gfn4+wsLCYGFhgX//+98YM2YM1q1bh5CQECQnJ6NRo0bYvXs3Tp06heXLl8PCwkLr5fz222/idnd3d4eRkRH27duHnJwcDB48+KVqr0yDBg2QkJCAzp07w8/PDz/88ANee+21ar+nKtOsWTOEhobi7NmzsLGxwaZNm5CTk4PNmzdXOa9SqcSaNWswdOhQtGnTBoMHD4aVlRWysrIQFxeHTp06YdWqVX919QEAvXv3xrx58zBixAh07NgRqamp2LZtW7Xeny4uLvjoo4/w8ccf44033kD//v2hUChw9uxZ2NvbIyoqSqtaevXqhYYNGyI0NBRTp06FoaEhNm3aJK57bbt//z4cHBwwYMAAtGrVCubm5vjuu+9w9uxZLFmyROzn7e2Nr776ChEREXj99ddhbm6OPn36VPt9Y2pqCnd3d3z11Vdo1qwZ6tWrhxYtWqBFixYYOXIkli5dCn9/f4SGhiI3Nxdr166Fh4cH1Gq1OEZ1Ps90vT3/kXRwxQ/9Azx7SerzSkpKhCZNmghNmjQRiouLhdLSUmH+/PmCk5OToFAohNatWwsHDx4sdwnd7t27hV69egnW1taCXC4XGjZsKIwdO1a4detWueUmJiYKY8aMEerWrSuYm5sLQ4YMEf78889ytaxatUpwdXUVjI2NBRsbG2H8+PHCvXv3yvWLiYkRnJ2dBYVCIbRt21Y4efJkuUv/KrokWBAE4erVq8KwYcMEW1tbwdjYWHjttdeE3r17C7t37xb7VHTp66VLlwQ/Pz/B3NxcaNCggTB69Gjh119/rXAZ1dn+JSUlQnBwsGBkZCTs379fEARByMnJEUaMGCE0aNBAkMvlgqenZ7mxy9arost8n1/nO3fuCGFhYYKrq6tgZmYmqFQqoX379sLOnTs15nNychICAwPLjff8Nq3qkuAyV65cEezs7AQ3Nzfh9u3b1X5PvUhZffHx8ULLli0FhUIhuLq6Crt27dLoV9n7vKx+f39/QaVSCSYmJkKTJk2EkJAQ4dy5c2Kf4cOHC2ZmZhVui+fX89nayhQUFAiTJ08W7OzsBFNTU6FTp05CUlLSCy9NrcimTZuE1q1bCwqFQqhbt67QtWtXISEh4YXLfLbG55eRnJwstG/fXvwdXbp06QsvCa5ozLLX/Plt/aLfr2cVFhYKU6dOFVq1aiVYWFgIZmZmQqtWrYSYmBiNfg8ePBDeffddwdLSUgAgvie0ed+cPn1a8Pb2FuRyebnLg7du3So0btxYkMvlgpeXlxAfH/9Sn2fabE96SiYIL7GPj6iWxMbGYsSIETh79qx4e/u/y9WrV+Hi4oIvvvhC3NNC/0yNGjVCixYtcPDgQV2XQkRa4DklRP9f2XkjVZ1cSEREtYPnlBAB2LRpEzZt2oQ6deqgQ4cOui6HiEgvcU8JEZ7eQfbu3bvYtWuXxqV7RET09+E5JURERCQJ3FNCREREksBQQkRERJLAE12robS0FDdv3oSFhUWltycmIiIiTYIg4P79+7C3ty/3B0Sfx1BSDTdv3oSjo6OuyyAiIvrHunHjBhwcHCrtw1BSDWW3675x4waUSqWOqyEiIvrnUKvVcHR0rNafvmAoqYayQzZKpZKhhIiI6CVU5/QHnuhKREREksBQQkRERJLAUEJERESSwFBCREREksBQQkRERJLAUEJERESSwFBCREREksBQQkRERJLAUEJERESSwFBCREREksBQQkRERJLAv31DRFQF76mf67oEolqXvHiYrkvgnhIiIiKSBoYSIiIikgSGEiIiIpIEhhIiIiKSBIYSIiIikgSdhpLIyEjIZDKNh6urqzi9oKAAYWFhqF+/PszNzREUFIScnByNMbKyshAYGIg6derA2toaU6dORXFxsUafEydOoE2bNlAoFHBxcUFsbOzfsXpERESkBZ3vKfHw8MCtW7fExw8//CBOCw8PxzfffINdu3YhMTERN2/eRP/+/cXpJSUlCAwMRFFREU6fPo0tW7YgNjYWs2fPFvtkZmYiMDAQ3bp1Q0pKCiZNmoRRo0YhPj7+b11PIiIiqpzO71NiZGQEW1vbcu35+fnYuHEjtm/fju7duwMANm/eDDc3N/z444/o0KEDjhw5gkuXLuG7776DjY0NvLy88PHHH2P69OmIjIyEXC7H2rVr4ezsjCVLlgAA3Nzc8MMPP2DZsmXw9/f/W9eViIiIXkzne0oyMjJgb2+Pxo0bY8iQIcjKygIAJCcn48mTJ/Dz8xP7urq6omHDhkhKSgIAJCUlwdPTEzY2NmIff39/qNVqXLx4Uezz7BhlfcrGqEhhYSHUarXGg4iIiGqXTkNJ+/btERsbi8OHD2PNmjXIzMzEG2+8gfv37yM7OxtyuRyWlpYa89jY2CA7OxsAkJ2drRFIyqaXTausj1qtxuPHjyusKyoqCiqVSnw4OjrWxOoSERFRJXR6+CYgIED8uWXLlmjfvj2cnJywc+dOmJqa6qyuGTNmICIiQnyuVqsZTIiIiGqZzg/fPMvS0hLNmjXDlStXYGtri6KiIuTl5Wn0ycnJEc9BsbW1LXc1TtnzqvoolcoXBh+FQgGlUqnxICIiotolqVDy4MEDXL16FXZ2dvD29oaxsTGOHj0qTk9PT0dWVhZ8fHwAAD4+PkhNTUVubq7YJyEhAUqlEu7u7mKfZ8co61M2BhEREUmDTkPJlClTkJiYiGvXruH06dPo168fDA0NERwcDJVKhdDQUEREROD48eNITk7GiBEj4OPjgw4dOgAAevXqBXd3dwwdOhS//vor4uPjMXPmTISFhUGhUAAAxo0bh99//x3Tpk3D5cuXERMTg507dyI8PFyXq05ERETP0ek5JX/88QeCg4Px559/wsrKCp07d8aPP/4IKysrAMCyZctgYGCAoKAgFBYWwt/fHzExMeL8hoaGOHjwIMaPHw8fHx+YmZlh+PDhmDdvntjH2dkZcXFxCA8PR3R0NBwcHLBhwwZeDkxERCQxMkEQBF0XIXVqtRoqlQr5+fk8v4RID3lP/VzXJRDVuuTFw2plXG2+QyV1TgkRERHpL4YSIiIikgSGEiIiIpIEhhIiIiKSBIYSIiIikgSGEiIiIpIEhhIiIiKSBIYSIiIikgSGEiIiIpIEhhIiIiKSBIYSIiIikgSGEiIiIpIEhhIiIiKSBIYSIiIikgSGEiIiIpIEhhIiIiKSBIYSIiIikgSGEiIiIpIEhhIiIiKSBIYSIiIikgSGEiIiIpIEhhIiIiKSBIYSIiIikgSGEiIiIpIEhhIiIiKSBIYSIiIikgSGEiIiIpIEhhIiIiKSBIYSIiIikgSGEiIiIpIEhhIiIiKSBIYSIiIikgSGEiIiIpIEhhIiIiKSBIYSIiIikgSGEiIiIpIEhhIiIiKSBIYSIiIikgSGEiIiIpIEhhIiIiKSBIYSIiIikgSGEiIiIpIEhhIiIiKSBIYSIiIikgSGEiIiIpIEhhIiIiKSBMmEkgULFkAmk2HSpEliW0FBAcLCwlC/fn2Ym5sjKCgIOTk5GvNlZWUhMDAQderUgbW1NaZOnYri4mKNPidOnECbNm2gUCjg4uKC2NjYv2GNiIiISBuSCCVnz57FunXr0LJlS4328PBwfPPNN9i1axcSExNx8+ZN9O/fX5xeUlKCwMBAFBUV4fTp09iyZQtiY2Mxe/ZssU9mZiYCAwPRrVs3pKSkYNKkSRg1ahTi4+P/tvUjIiKiquk8lDx48ABDhgzBZ599hrp164rt+fn52LhxI5YuXYru3bvD29sbmzdvxunTp/Hjjz8CAI4cOYJLly5h69at8PLyQkBAAD7++GOsXr0aRUVFAIC1a9fC2dkZS5YsgZubGyZOnIgBAwZg2bJlOllfIiIiqpjOQ0lYWBgCAwPh5+en0Z6cnIwnT55otLu6uqJhw4ZISkoCACQlJcHT0xM2NjZiH39/f6jValy8eFHs8/zY/v7+4hgVKSwshFqt1ngQERFR7TLS5cJ37NiBn3/+GWfPni03LTs7G3K5HJaWlhrtNjY2yM7OFvs8G0jKppdNq6yPWq3G48ePYWpqWm7ZUVFRmDt37kuvFxEREWlPZ3tKbty4gQ8++ADbtm2DiYmJrsqo0IwZM5Cfny8+bty4oeuSiIiIXnk6CyXJycnIzc1FmzZtYGRkBCMjIyQmJmLFihUwMjKCjY0NioqKkJeXpzFfTk4ObG1tAQC2trblrsYpe15VH6VSWeFeEgBQKBRQKpUaDyIiIqpdOgslPXr0QGpqKlJSUsRH27ZtMWTIEPFnY2NjHD16VJwnPT0dWVlZ8PHxAQD4+PggNTUVubm5Yp+EhAQolUq4u7uLfZ4do6xP2RhEREQkDTo7p8TCwgItWrTQaDMzM0P9+vXF9tDQUERERKBevXpQKpV477334OPjgw4dOgAAevXqBXd3dwwdOhSLFi1CdnY2Zs6cibCwMCgUCgDAuHHjsGrVKkybNg0jR47EsWPHsHPnTsTFxf29K0xERESV0umJrlVZtmwZDAwMEBQUhMLCQvj7+yMmJkacbmhoiIMHD2L8+PHw8fGBmZkZhg8fjnnz5ol9nJ2dERcXh/DwcERHR8PBwQEbNmyAv7+/LlaJiIiIXkAmCIKg6yKkTq1WQ6VSIT8/n+eXEOkh76mf67oEolqXvHhYrYyrzXeozu9TQkRERAQwlBAREZFEMJQQERGRJDCUEBERkSQwlBAREZEkMJQQERGRJDCUEBERkSQwlBAREZEkMJQQERGRJDCUEBERkSQwlBAREZEkMJQQERGRJDCUEBERkSQwlBAREZEkMJQQERGRJDCUEBERkSQwlBAREZEkMJQQERGRJDCUEBERkSQwlBAREZEkMJQQERGRJBi9zEznzp3Dzp07kZWVhaKiIo1pe/furZHCiIiISL9ovadkx44d6NixI9LS0rBv3z48efIEFy9exLFjx6BSqWqjRiIiItIDWoeS+fPnY9myZfjmm28gl8sRHR2Ny5cvY9CgQWjYsGFt1EhERER6QOtQcvXqVQQGBgIA5HI5Hj58CJlMhvDwcKxfv77GCyQiIiL9oHUoqVu3Lu7fvw8AeO2113DhwgUAQF5eHh49elSz1REREZHe0PpE1y5duiAhIQGenp4YOHAgPvjgAxw7dgwJCQno0aNHbdRIREREekDrULJq1SoUFBQAAD766CMYGxvj9OnTCAoKwsyZM2u8QCIiItIPWocSIyMj2NvbAwAMDAzw4YcfitOuXLmCunXr1lx1REREpDe0PqckMDAQhYWF5drT09Ph6+tbEzURERGRHtI6lJibm6Nfv34oLi4W29LS0uDr64ugoKAaLY6IiIj0h9ahZO/evcjPz8eQIUMgCAIuXLgAX19fBAcHIzo6ujZqJCIiIj2gdSgxNTVFXFwc0tPTMWjQIPTo0QPDhg3D0qVLa6M+IiIi0hPVOtFVrVZrPDcwMMBXX32Fnj17IigoCLNmzRL7KJXKmq+SiIiIXnnVCiWWlpaQyWTl2gVBwNq1a7Fu3ToIggCZTIaSkpIaL5KIiIhefdUKJcePH6/tOoiIiEjPVSuUdO3atbbrICIiIj1XrVBy/vx5tGjRAgYGBjh//nylfVu2bFkjhREREZF+qVYo8fLyQnZ2NqytreHl5QWZTAZBEMr14zklRERE9LKqFUoyMzNhZWUl/kxERERU06oVSpycnCr8mYiIiKimaP0H+QAgIyMDx48fR25uLkpLSzWmzZ49u0YKIyIiIv2idSj57LPPMH78eDRo0AC2trYa9y+RyWQMJURERPRStA4ln3zyCT799FNMnz69NuohIiIiPaX13765d+8eBg4cWBu1EBERkR7TOpQMHDgQR44cqY1aiIiISI9pHUpcXFwwa9YshISEYMmSJVixYoXGQxtr1qxBy5YtoVQqoVQq4ePjg0OHDonTCwoKEBYWhvr168Pc3BxBQUHIycnRGCMrKwuBgYGoU6cOrK2tMXXqVBQXF2v0OXHiBNq0aQOFQgEXFxfExsZqu9pERERUy7Q+p2T9+vUwNzdHYmIiEhMTNabJZDK8//771R7LwcEBCxYsQNOmTSEIArZs2YJ//etf+OWXX+Dh4YHw8HDExcVh165dUKlUmDhxIvr3749Tp04BAEpKShAYGAhbW1ucPn0at27dwrBhw2BsbIz58+cDeHpflcDAQIwbNw7btm3D0aNHMWrUKNjZ2cHf31/b1SciIqJaIhMqujWrDtWrVw+LFy/GgAEDYGVlhe3bt2PAgAEAgMuXL8PNzQ1JSUno0KEDDh06hN69e+PmzZuwsbEBAKxduxbTp0/H7du3IZfLMX36dMTFxeHChQviMgYPHoy8vDwcPny4WjWp1WqoVCrk5+dDqVTW/EoTkaR5T/1c1yUQ1brkxcNqZVxtvkO1PnzzvJKSEqSkpODevXt/eZwdO3bg4cOH8PHxQXJyMp48eQI/Pz+xj6urKxo2bIikpCQAQFJSEjw9PcVAAgD+/v5Qq9W4ePGi2OfZMcr6lI1RkcLCQqjVao0HERER1S6tQ8mkSZOwceNGAE+DRJcuXdCmTRs4OjrixIkTWheQmpoKc3NzKBQKjBs3Dvv27YO7uzuys7Mhl8thaWmp0d/GxgbZ2dkAgOzsbI1AUja9bFplfdRqNR4/flxhTVFRUVCpVOLD0dFR6/UiIiIi7WgdSnbv3o1WrVoBAL755htcu3YNly9fRnh4OD766COtC2jevDlSUlJw5swZjB8/HsOHD8elS5e0HqcmzZgxA/n5+eLjxo0bOq2HiIhIH2gdSu7cuQNbW1sAwLfffouBAweiWbNmGDlyJFJTU7UuQC6Xw8XFBd7e3oiKikKrVq0QHR0NW1tbFBUVIS8vT6N/Tk6OuHxbW9tyV+OUPa+qj1KphKmpaYU1KRQK8YqgsgcRERHVLq1DiY2NDS5duoSSkhIcPnwYPXv2BAA8evQIhoaGf7mg0tJSFBYWwtvbG8bGxjh69Kg4LT09HVlZWfDx8QEA+Pj4IDU1Fbm5uWKfhIQEKJVKuLu7i32eHaOsT9kYREREJA1aXxI8YsQIDBo0CHZ2dpDJZOJJpGfOnIGrq6tWY82YMQMBAQFo2LAh7t+/j+3bt+PEiROIj4+HSqVCaGgoIiIiUK9ePSiVSrz33nvw8fFBhw4dAAC9evWCu7s7hg4dikWLFiE7OxszZ85EWFgYFAoFAGDcuHFYtWoVpk2bhpEjR+LYsWPYuXMn4uLitF11IiIiqkVah5LIyEi0aNECN27cwMCBA8Uvf0NDQ3z44YdajZWbm4thw4bh1q1bUKlUaNmyJeLj48W9L8uWLYOBgQGCgoJQWFgIf39/xMTEiPMbGhri4MGDGD9+PHx8fGBmZobhw4dj3rx5Yh9nZ2fExcUhPDwc0dHRcHBwwIYNG3iPEiIiIomR3H1KpIj3KSHSb7xPCekDKdynpFp7SlasWIExY8bAxMSkylvJa3NHVyIiIqIy1Qoly5Ytw5AhQ2BiYoJly5a9sJ+2t5knIiIiKlOtUJKZmVnhz0REREQ1RatLgp88eYImTZogLS2ttuohIiIiPaVVKDE2NkZBQUFt1UJERER6TOubp4WFhWHhwoUoLi6ujXqIiIhIT2l9n5KzZ8/i6NGjOHLkCDw9PWFmZqYxfe/evTVWHBEREekPrUOJpaUlgoKCaqMWIiIi0mNah5LNmzfXRh1ERESk57QOJWVu376N9PR0AEDz5s1hZWVVY0URERGR/tH6RNeHDx9i5MiRsLOzQ5cuXdClSxfY29sjNDQUjx49qo0aiYiISA9oHUoiIiKQmJiIb775Bnl5ecjLy8PXX3+NxMRETJ48uTZqJCIiIj2g9eGbPXv2YPfu3fD19RXb3nrrLZiammLQoEFYs2ZNTdZHREREekLrPSWPHj2CjY1NuXZra2seviEiIqKXpnUo8fHxwZw5czTu7Pr48WPMnTsXPj4+NVocERER6Q+tD98sX74cb775JhwcHNCqVSsAwK+//goTExPEx8fXeIFERESkH7QOJZ6ensjIyMC2bdtw+fJlAEBwcDCGDBkCU1PTGi+QiIiI9IPWoeTLL79EcHAwRo8eXW7a1KlTsXjx4hopjIiIiPSL1ueUjB8/HocOHSrXHh4ejq1bt9ZIUURERKR/tA4l27ZtQ3BwMH744Qex7b333sPOnTtx/PjxGi2OiIiI9IfWoSQwMBAxMTF4++23kZycjAkTJmDv3r04fvw4XF1da6NGIiIi0gMv9bdv3n33XeTl5aFTp06wsrJCYmIiXFxcaro2IiIi0iPVCiUREREVtltZWaFNmzaIiYkR25YuXVozlREREZFeqVYo+eWXXypsd3FxgVqtFqfLZLKaq4yIiIj0SrVCCU9gJSIiotqm9YmuRERERLWBoYSIiIgkgaGEiIiIJIGhhIiIiCSBoYSIiIgkoVpX3xw4cAABAQEwNjbGgQMHKu1rbm4OV1dX2Nvb10iBREREpB+qFUr69u2L7OxsWFtbo2/fvlX2NzQ0xKJFixAeHv5X6yMiIiI9Ua3DN6WlpbC2thZ/ruxRUFCAzz77DIsWLarVwomIiOjV8lJ/+6YycrkcQUFBOH/+fE0PTURERK+wlwolV69exfLly5GWlgYAcHd3xwcffIAmTZoAACwsLPg3cIiIiEgrWl99Ex8fD3d3d/z0009o2bIlWrZsiTNnzsDDwwMJCQm1USMRERHpAa33lHz44YcIDw/HggULyrVPnz4dPXv2rLHiiIiISH9ovackLS0NoaGh5dpHjhyJS5cu1UhRREREpH+0DiVWVlZISUkp156SkiJeoUNERESkLa0P34wePRpjxozB77//jo4dOwIATp06hYULFyIiIqLGCyQiIiL9oHUomTVrFiwsLLBkyRLMmDEDAGBvb4/IyEi8//77NV4gERER6QetQklxcTG2b9+Od999F+Hh4bh//z6Ap5cAExEREf0VWp1TYmRkhHHjxqGgoADA0zDCQEJEREQ1QesTXdu1a4dffvmlNmohIiIiPab1OSUTJkzA5MmT8ccff8Db2xtmZmYa01u2bFljxREREZH+0HpPyeDBg5GZmYn3338fnTp1gpeXF1q3bi3+q42oqCi8/vrrsLCwEP8CcXp6ukafgoIChIWFoX79+jA3N0dQUBBycnI0+mRlZSEwMBB16tSBtbU1pk6diuLiYo0+J06cQJs2baBQKODi4oLY2FhtV52IiIhqkdZ7SjIzM2ts4YmJiQgLC8Prr7+O4uJi/Oc//0GvXr1w6dIlcQ9MeHg44uLisGvXLqhUKkycOBH9+/fHqVOnAAAlJSUIDAyEra0tTp8+jVu3bmHYsGEwNjbG/PnzxZoDAwMxbtw4bNu2DUePHsWoUaNgZ2cHf3//GlsfIiIienkyQRAEXRdR5vbt27C2tkZiYiK6dOmC/Px8WFlZYfv27RgwYAAA4PLly3Bzc0NSUhI6dOiAQ4cOoXfv3rh58yZsbGwAAGvXrsX06dNx+/ZtyOVyTJ8+HXFxcbhw4YK4rMGDByMvLw+HDx+usi61Wg2VSoX8/HwolcraWXkikizvqZ/rugSiWpe8eFitjKvNd6jWh2/+/PNP8ecbN25g9uzZmDp1Kr7//nvtK31Ofn4+AKBevXoAgOTkZDx58gR+fn5iH1dXVzRs2BBJSUkAgKSkJHh6eoqBBAD8/f2hVqtx8eJFsc+zY5T1KRvjeYWFhVCr1RoPIiIiql3VDiWpqalo1KgRrK2t4erqipSUFLz++utYtmwZ1q9fj27dumH//v0vXUhpaSkmTZqETp06oUWLFgCA7OxsyOVyWFpaavS1sbFBdna22OfZQFI2vWxaZX3UajUeP35crpaoqCioVCrx4ejo+NLrRURERNVT7VAybdo0eHp64uTJk/D19UXv3r0RGBiI/Px83Lt3D2PHji33l4O1ERYWhgsXLmDHjh0vPUZNmTFjBvLz88XHjRs3dF0SERHRK6/aJ7qePXsWx44dQ8uWLdGqVSusX78eEyZMgIHB01zz3nvvoUOHDi9VxMSJE3Hw4EGcPHkSDg4OYrutrS2KioqQl5ensbckJycHtra2Yp+ffvpJY7yyq3Oe7fP8FTs5OTlQKpUwNTUtV49CoYBCoXipdSEiIqKXU+09JXfv3hW/5M3NzWFmZoa6deuK0+vWrSvedr66BEHAxIkTsW/fPhw7dgzOzs4a0729vWFsbIyjR4+Kbenp6cjKyoKPjw8AwMfHB6mpqcjNzRX7JCQkQKlUwt3dXezz7BhlfcrGICIiIt3T6pJgmUxW6XNthYWFYfv27fj6669hYWEhngOiUqlgamoKlUqF0NBQREREoF69elAqlXjvvffg4+Mj7pXp1asX3N3dMXToUCxatAjZ2dmYOXMmwsLCxL0d48aNw6pVqzBt2jSMHDkSx44dw86dOxEXF/eX6iciIqKao1UoCQkJEb/oCwoKMG7cOPF+IoWFhVovfM2aNQAAX19fjfbNmzcjJCQEALBs2TIYGBggKCgIhYWF8Pf3R0xMjNjX0NAQBw8exPjx4+Hj4wMzMzMMHz4c8+bNE/s4OzsjLi4O4eHhiI6OhoODAzZs2MB7lBAREUlIte9TMmLEiGoNuHnz5r9UkBTxPiVE+o33KSF9IIX7lFR7T8mrGDaIiIhIOrS+zTzVDv5PjPRBbf1PjIheDVrf0ZWIiIioNjCUEBERkSQwlBAREZEkMJQQERGRJDCUEBERkSQwlBAREZEkMJQQERGRJDCUEBERkSQwlBAREZEkMJQQERGRJDCUEBERkSQwlBAREZEkMJQQERGRJDCUEBERkSQwlBAREZEkMJQQERGRJDCUEBERkSQwlBAREZEkMJQQERGRJDCUEBERkSQwlBAREZEkMJQQERGRJDCUEBERkSQwlBAREZEkMJQQERGRJDCUEBERkSQwlBAREZEkMJQQERGRJDCUEBERkSQwlBAREZEkMJQQERGRJDCUEBERkSQwlBAREZEkMJQQERGRJDCUEBERkSQwlBAREZEkMJQQERGRJDCUEBERkSQwlBAREZEkMJQQERGRJDCUEBERkSQwlBAREZEkMJQQERGRJDCUEBERkSToNJScPHkSffr0gb29PWQyGfbv368xXRAEzJ49G3Z2djA1NYWfnx8yMjI0+ty9exdDhgyBUqmEpaUlQkND8eDBA40+58+fxxtvvAETExM4Ojpi0aJFtb1qREREpCWdhpKHDx+iVatWWL16dYXTFy1ahBUrVmDt2rU4c+YMzMzM4O/vj4KCArHPkCFDcPHiRSQkJODgwYM4efIkxowZI05Xq9Xo1asXnJyckJycjMWLFyMyMhLr16+v9fUjIiKi6jPS5cIDAgIQEBBQ4TRBELB8+XLMnDkT//rXvwAAn3/+OWxsbLB//34MHjwYaWlpOHz4MM6ePYu2bdsCAFauXIm33noL//3vf2Fvb49t27ahqKgImzZtglwuh4eHB1JSUrB06VKN8EJERES6JdlzSjIzM5GdnQ0/Pz+xTaVSoX379khKSgIAJCUlwdLSUgwkAODn5wcDAwOcOXNG7NOlSxfI5XKxj7+/P9LT03Hv3r0Kl11YWAi1Wq3xICIiotol2VCSnZ0NALCxsdFot7GxEadlZ2fD2tpaY7qRkRHq1aun0aeiMZ5dxvOioqKgUqnEh6Oj419fISIiIqqUZEOJLs2YMQP5+fni48aNG7ouiYiI6JUn2VBia2sLAMjJydFoz8nJEafZ2toiNzdXY3pxcTHu3r2r0aeiMZ5dxvMUCgWUSqXGg4iIiGqXZEOJs7MzbG1tcfToUbFNrVbjzJkz8PHxAQD4+PggLy8PycnJYp9jx46htLQU7du3F/ucPHkST548EfskJCSgefPmqFu37t+0NkRERFQVnYaSBw8eICUlBSkpKQCentyakpKCrKwsyGQyTJo0CZ988gkOHDiA1NRUDBs2DPb29ujbty8AwM3NDW+++SZGjx6Nn376CadOncLEiRMxePBg2NvbAwDeffddyOVyhIaG4uLFi/jqq68QHR2NiIgIHa01ERERVUSnlwSfO3cO3bp1E5+XBYXhw4cjNjYW06ZNw8OHDzFmzBjk5eWhc+fOOHz4MExMTMR5tm3bhokTJ6JHjx4wMDBAUFAQVqxYIU5XqVQ4cuQIwsLC4O3tjQYNGmD27Nm8HJiIiEhiZIIgCLouQurUajVUKhXy8/Nr7fwS76mf18q4RFKSvHiYrkt4Kfz9JH1QW7+f2nyHSvacEiIiItIvDCVEREQkCQwlREREJAkMJURERCQJDCVEREQkCQwlREREJAkMJURERCQJDCVEREQkCQwlREREJAkMJURERCQJDCVEREQkCQwlREREJAkMJURERCQJDCVEREQkCQwlREREJAkMJURERCQJDCVEREQkCQwlREREJAkMJURERCQJDCVEREQkCQwlREREJAkMJURERCQJDCVEREQkCQwlREREJAkMJURERCQJDCVEREQkCQwlREREJAkMJURERCQJDCVEREQkCQwlREREJAkMJURERCQJDCVEREQkCQwlREREJAkMJURERCQJDCVEREQkCQwlREREJAkMJURERCQJDCVEREQkCQwlREREJAkMJURERCQJDCVEREQkCQwlREREJAkMJURERCQJDCVEREQkCQwlREREJAkMJURERCQJehVKVq9ejUaNGsHExATt27fHTz/9pOuSiIiI6P/Tm1Dy1VdfISIiAnPmzMHPP/+MVq1awd/fH7m5uboujYiIiKBHoWTp0qUYPXo0RowYAXd3d6xduxZ16tTBpk2bdF0aERERATDSdQF/h6KiIiQnJ2PGjBlim4GBAfz8/JCUlFSuf2FhIQoLC8Xn+fn5AAC1Wl1rNZYUPq61sYmkojZ/h2oTfz9JH9TW72fZuIIgVNlXL0LJnTt3UFJSAhsbG412GxsbXL58uVz/qKgozJ07t1y7o6NjrdVIpA9UK8fpugQieoHa/v28f/8+VCpVpX30IpRoa8aMGYiIiBCfl5aW4u7du6hfvz5kMpkOK6Oaolar4ejoiBs3bkCpVOq6HCJ6Bn8/Xy2CIOD+/fuwt7evsq9ehJIGDRrA0NAQOTk5Gu05OTmwtbUt11+hUEChUGi0WVpa1maJpCNKpZIfekQSxd/PV0dVe0jK6MWJrnK5HN7e3jh69KjYVlpaiqNHj8LHx0eHlREREVEZvdhTAgAREREYPnw42rZti3bt2mH58uV4+PAhRowYoevSiIiICHoUSt555x3cvn0bs2fPRnZ2Nry8vHD48OFyJ7+SflAoFJgzZ065w3REpHv8/dRfMqE61+gQERER1TK9OKeEiIiIpI+hhIiIiCSBoYSIiIgkgaGEiIiIJIGhhF4pgiDAz88P/v7+5abFxMTA0tISf/zxhw4qI6JnhYSEQCaTYcGCBRrt+/fv552z9RhDCb1SZDIZNm/ejDNnzmDdunVie2ZmJqZNm4aVK1fCwcFBhxUSURkTExMsXLgQ9+7d03UpJBEMJfTKcXR0RHR0NKZMmYLMzEwIgoDQ0FD06tULrVu3RkBAAMzNzWFjY4OhQ4fizp074ry7d++Gp6cnTE1NUb9+ffj5+eHhw4c6XBuiV5efnx9sbW0RFRX1wj579uyBh4cHFAoFGjVqhCVLlvyNFdLfjaGEXknDhw9Hjx49MHLkSKxatQoXLlzAunXr0L17d7Ru3Rrnzp3D4cOHkZOTg0GDBgEAbt26heDgYIwcORJpaWk4ceIE+vfvX60/t01E2jM0NMT8+fOxcuXKCg+rJicnY9CgQRg8eDBSU1MRGRmJWbNmITY29u8vlv4WvHkavbJyc3Ph4eGBu3fvYs+ePbhw4QK+//57xMfHi33++OMPODo6Ij09HQ8ePIC3tzeuXbsGJycnHVZO9OoLCQlBXl4e9u/fDx8fH7i7u2Pjxo3Yv38/+vXrB0EQMGTIENy+fRtHjhwR55s2bRri4uJw8eJFHVZPtYV7SuiVZW1tjbFjx8LNzQ19+/bFr7/+iuPHj8Pc3Fx8uLq6AgCuXr2KVq1aoUePHvD09MTAgQPx2Wef8Vg30d9g4cKF2LJlC9LS0jTa09LS0KlTJ422Tp06ISMjAyUlJX9nifQ3YSihV5qRkRGMjJ7+iacHDx6gT58+SElJ0XhkZGSgS5cuMDQ0REJCAg4dOgR3d3esXLkSzZs3R2Zmpo7XgujV1qVLF/j7+2PGjBm6LoV0TG/+IB9RmzZtsGfPHjRq1EgMKs+TyWTo1KkTOnXqhNmzZ8PJyQn79u1DRETE31wtkX5ZsGABvLy80Lx5c7HNzc0Np06d0uh36tQpNGvWDIaGhn93ifQ34J4S0hthYWG4e/cugoODcfbsWVy9ehXx8fEYMWIESkpKcObMGcyfPx/nzp1DVlYW9u7di9u3b8PNzU3XpRO98jw9PTFkyBCsWLFCbJs8eTKOHj2Kjz/+GL/99hu2bNmCVatWYcqUKTqslGoTQwnpDXt7e5w6dQolJSXo1asXPD09MWnSJFhaWsLAwABKpRInT57EW2+9hWbNmmHmzJlYsmQJAgICdF06kV6YN28eSktLxedt2rTBzp07sWPHDrRo0QKzZ8/GvHnzEBISorsiqVbx6hsiIiKSBO4pISIiIklgKCEiIiJJYCghIiIiSWAoISIiIklgKCEiIiJJYCghIiIiSWAoISIiIklgKCEiIiJJYCghor9MJpNh//79ui6DiP7hGEqIqFLZ2dl477330LhxYygUCjg6OqJPnz44evSorkt7Kb6+vpg0aZLW84WEhKBv3741Xg8R/R/+lWAieqFr166hU6dOsLS0xOLFi+Hp6YknT54gPj4eYWFhuHz5cq0tu6ioCHK5vNbGJyLp4Z4SInqhCRMmQCaT4aeffkJQUBCaNWsGDw8PRERE4Mcff9Toe+fOHfTr1w916tRB06ZNceDAAXFabGwsLC0tNfrv378fMplMfB4ZGQkvLy9s2LABzs7OMDExAfD00NCGDRteOHZFYmJi0LRpU5iYmMDGxgYDBgwA8HRvR2JiIqKjoyGTySCTyXDt2jWUlJQgNDQUzs7OMDU1RfPmzREdHa1R25YtW/D111+L8504cQInTpyATCZDXl6e2DclJUUcFwCuX7+OPn36oG7dujAzM4OHhwe+/fbbar8GRPqEe0qIqEJ3797F4cOH8emnn8LMzKzc9OdDxty5c7Fo0SIsXrwYK1euxJAhQ3D9+nXUq1ev2su8cuUK9uzZg71798LQ0PClxj537hzef/99fPHFF+jYsSPu3r2L77//HgAQHR2N3377DS1atMC8efMAAFZWVigtLYWDgwN27dqF+vXr4/Tp0xgzZgzs7OwwaNAgTJkyBWlpaVCr1di8eTMAoF69ejh9+nSV6xQWFoaioiKcPHkSZmZmuHTpEszNzau9TYj0CUMJEVXoypUrEAQBrq6u1eofEhKC4OBgAMD8+fOxYsUK/PTTT3jzzTervcyioiJ8/vnnsLKyeumxs7KyYGZmht69e8PCwgJOTk5o3bo1AEClUkEul6NOnTqwtbUV5zE0NMTcuXPF587OzkhKSsLOnTsxaNAgmJubw9TUFIWFhRrzVUdWVhaCgoLg6ekJAGjcuLFW8xPpEx6+IaIKCYKgVf+WLVuKP5uZmUGpVCI3N1erMZycnMoFEm3H7tmzJ5ycnNC4cWMMHToU27Ztw6NHj6pc9urVq+Ht7Q0rKyuYm5tj/fr1yMrK0qr+irz//vv45JNP0KlTJ8yZMwfnz5//y2MSvaoYSoioQk2bNoVMJqv2yazGxsYaz2UyGUpLSwEABgYG5ULOkydPyo1R0WGiqsZ+noWFBX7++Wd8+eWXsLOzw+zZs9GqVSuN8z6et2PHDkyZMgWhoaE4cuQIUlJSMGLECBQVFb1wnrL1AjQD3PPrNWrUKPz+++8YOnQoUlNT0bZtW6xcubLScYn0FUMJEVWoXr168Pf3x+rVq/Hw4cNy0yv7kn+elZUV7t+/rzFOSkpKDVRZMSMjI/j5+WHRokU4f/48rl27hmPHjgEA5HI5SkpKNPqfOnUKHTt2xIQJE9C6dWu4uLjg6tWrGn0qmq9sr86tW7fEtorWy9HREePGjcPevXsxefJkfPbZZzWxmkSvHIYSInqh1atXo6SkBO3atcOePXuQkZGBtLQ0rFixAj4+PtUep3379qhTpw7+85//4OrVq9i+fTtiY2NrpeaDBw9ixYoVSElJwfXr1/H555+jtLQUzZs3BwA0atQIZ86cwbVr13Dnzh2UlpaiadOmOHfuHOLj4/Hbb79h1qxZOHv2rMa4jRo1wvnz55Geno47d+7gyZMncHFxgaOjIyIjI5GRkYG4uDgsWbJEY75JkyYhPj4emZmZ+Pnnn3H8+HG4ubnVyroT/dMxlBDRCzVu3Bg///wzunXrhsmTJ6NFixbo2bMnjh49ijVr1lR7nHr16mHr1q349ttv4enpiS+//BKRkZG1UrOlpSX27t2L7t27w83NDWvXrsWXX34JDw8PAMCUKVNgaGgId3d3WFlZISsrC2PHjkX//v3xzjvvoH379vjzzz8xYcIEjXFHjx6N5s2bo23btrCyssKpU6dgbGyML7/8EpcvX0bLli2xcOFCfPLJJxrzlZSUICwsDG5ubnjzzTfRrFkzxMTE1Mq6E/3TyQRtz2YjIiIiqgXcU0JERESSwFBCREREksBQQkRERJLAUEJERESSwFBCREREksBQQkRERJLAUEJERESSwFBCREREksBQQkRERJLAUEJERESSwFBCREREkvD/AEm0MXGMBQUoAAAAAElFTkSuQmCC"/>
          <p:cNvSpPr>
            <a:spLocks noChangeAspect="1" noChangeArrowheads="1"/>
          </p:cNvSpPr>
          <p:nvPr/>
        </p:nvSpPr>
        <p:spPr bwMode="auto">
          <a:xfrm>
            <a:off x="155574" y="-144463"/>
            <a:ext cx="4233545" cy="423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7" name="Slika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038" y="3448598"/>
            <a:ext cx="4658360" cy="3334673"/>
          </a:xfrm>
          <a:prstGeom prst="rect">
            <a:avLst/>
          </a:prstGeom>
        </p:spPr>
      </p:pic>
      <p:pic>
        <p:nvPicPr>
          <p:cNvPr id="4" name="Slik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64" y="3984076"/>
            <a:ext cx="1902986" cy="153167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Čišćenje podataka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389" y="1495312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 err="1"/>
              <a:t>Provjera</a:t>
            </a:r>
            <a:r>
              <a:rPr dirty="0"/>
              <a:t> </a:t>
            </a:r>
            <a:r>
              <a:rPr dirty="0" err="1"/>
              <a:t>nedostajućih</a:t>
            </a:r>
            <a:r>
              <a:rPr dirty="0"/>
              <a:t> </a:t>
            </a:r>
            <a:r>
              <a:rPr dirty="0" err="1" smtClean="0"/>
              <a:t>vrijednosti</a:t>
            </a:r>
            <a:endParaRPr lang="hr-HR" dirty="0" smtClean="0"/>
          </a:p>
          <a:p>
            <a:r>
              <a:rPr lang="hr-HR" dirty="0" err="1" smtClean="0"/>
              <a:t>Churn</a:t>
            </a:r>
            <a:r>
              <a:rPr lang="hr-HR" dirty="0" smtClean="0"/>
              <a:t> </a:t>
            </a:r>
            <a:r>
              <a:rPr lang="hr-HR" dirty="0" err="1" smtClean="0"/>
              <a:t>reason</a:t>
            </a:r>
            <a:r>
              <a:rPr lang="hr-HR" dirty="0" smtClean="0"/>
              <a:t> – dostupna samo za korisnike koji su napustili uslugu</a:t>
            </a:r>
            <a:endParaRPr dirty="0" smtClean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529679"/>
            <a:ext cx="3716718" cy="299046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Čišćenje podataka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82263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lang="hr-HR" dirty="0" smtClean="0"/>
              <a:t>Pretvorba Total </a:t>
            </a:r>
            <a:r>
              <a:rPr lang="hr-HR" dirty="0" err="1"/>
              <a:t>C</a:t>
            </a:r>
            <a:r>
              <a:rPr lang="hr-HR" dirty="0" err="1" smtClean="0"/>
              <a:t>harges</a:t>
            </a:r>
            <a:r>
              <a:rPr lang="hr-HR" dirty="0" smtClean="0"/>
              <a:t> u numerički tip</a:t>
            </a:r>
            <a:endParaRPr dirty="0" smtClean="0"/>
          </a:p>
        </p:txBody>
      </p:sp>
      <p:pic>
        <p:nvPicPr>
          <p:cNvPr id="6" name="Slika 5"/>
          <p:cNvPicPr>
            <a:picLocks noChangeAspect="1"/>
          </p:cNvPicPr>
          <p:nvPr/>
        </p:nvPicPr>
        <p:blipFill rotWithShape="1">
          <a:blip r:embed="rId2"/>
          <a:srcRect t="10865" b="5045"/>
          <a:stretch/>
        </p:blipFill>
        <p:spPr>
          <a:xfrm>
            <a:off x="609599" y="3270367"/>
            <a:ext cx="5125453" cy="452282"/>
          </a:xfrm>
          <a:prstGeom prst="rect">
            <a:avLst/>
          </a:prstGeom>
          <a:effectLst>
            <a:outerShdw dist="50800" dir="5400000" sx="48000" sy="48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7" name="Slika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89" y="4206739"/>
            <a:ext cx="7791294" cy="52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7504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Čišćenje podataka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82263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lang="hr-HR" dirty="0" smtClean="0"/>
              <a:t>Uklanjanje irelevantnih </a:t>
            </a:r>
            <a:r>
              <a:rPr lang="hr-HR" dirty="0" smtClean="0"/>
              <a:t>stupaca</a:t>
            </a:r>
          </a:p>
          <a:p>
            <a:r>
              <a:rPr lang="hr-HR" dirty="0" err="1" smtClean="0"/>
              <a:t>Churn</a:t>
            </a:r>
            <a:r>
              <a:rPr lang="hr-HR" dirty="0" smtClean="0"/>
              <a:t> </a:t>
            </a:r>
            <a:r>
              <a:rPr lang="hr-HR" dirty="0" err="1" smtClean="0"/>
              <a:t>reason</a:t>
            </a:r>
            <a:r>
              <a:rPr lang="hr-HR" dirty="0" smtClean="0"/>
              <a:t> </a:t>
            </a:r>
            <a:r>
              <a:rPr lang="hr-HR" dirty="0"/>
              <a:t>- </a:t>
            </a:r>
            <a:r>
              <a:rPr lang="hr-HR" dirty="0" smtClean="0"/>
              <a:t>uzrokuje </a:t>
            </a:r>
            <a:r>
              <a:rPr lang="hr-HR" dirty="0"/>
              <a:t>data </a:t>
            </a:r>
            <a:r>
              <a:rPr lang="hr-HR" dirty="0" err="1"/>
              <a:t>leakage</a:t>
            </a:r>
            <a:endParaRPr dirty="0" smtClean="0"/>
          </a:p>
        </p:txBody>
      </p:sp>
      <p:pic>
        <p:nvPicPr>
          <p:cNvPr id="9" name="Slika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129130"/>
            <a:ext cx="5750390" cy="316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729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Analiza podataka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283" y="1041653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26.5% </a:t>
            </a:r>
            <a:r>
              <a:rPr dirty="0" err="1"/>
              <a:t>korisnika</a:t>
            </a:r>
            <a:r>
              <a:rPr dirty="0"/>
              <a:t> je </a:t>
            </a:r>
            <a:r>
              <a:rPr dirty="0" err="1"/>
              <a:t>napustilo</a:t>
            </a:r>
            <a:r>
              <a:rPr dirty="0"/>
              <a:t> </a:t>
            </a:r>
            <a:r>
              <a:rPr dirty="0" err="1"/>
              <a:t>uslugu</a:t>
            </a:r>
            <a:endParaRPr dirty="0"/>
          </a:p>
          <a:p>
            <a:r>
              <a:rPr dirty="0"/>
              <a:t>Churn </a:t>
            </a:r>
            <a:r>
              <a:rPr dirty="0" err="1"/>
              <a:t>veći</a:t>
            </a:r>
            <a:r>
              <a:rPr dirty="0"/>
              <a:t> </a:t>
            </a:r>
            <a:r>
              <a:rPr dirty="0" err="1"/>
              <a:t>kod</a:t>
            </a:r>
            <a:r>
              <a:rPr dirty="0"/>
              <a:t> month-to-month </a:t>
            </a:r>
            <a:r>
              <a:rPr dirty="0" err="1" smtClean="0"/>
              <a:t>ugovora</a:t>
            </a:r>
            <a:endParaRPr lang="hr-HR" dirty="0" smtClean="0"/>
          </a:p>
          <a:p>
            <a:r>
              <a:rPr lang="hr-HR" dirty="0" smtClean="0"/>
              <a:t>Najmanji </a:t>
            </a:r>
            <a:r>
              <a:rPr lang="hr-HR" dirty="0" err="1" smtClean="0"/>
              <a:t>churn</a:t>
            </a:r>
            <a:r>
              <a:rPr lang="hr-HR" dirty="0" smtClean="0"/>
              <a:t> kod korisnika bez Internet usluge</a:t>
            </a:r>
            <a:endParaRPr dirty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4890"/>
            <a:ext cx="4669458" cy="3663110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458" y="3214989"/>
            <a:ext cx="4455393" cy="349517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Analiza podataka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73431"/>
            <a:ext cx="6347714" cy="3880773"/>
          </a:xfrm>
        </p:spPr>
        <p:txBody>
          <a:bodyPr/>
          <a:lstStyle/>
          <a:p>
            <a:r>
              <a:rPr lang="hr-HR" dirty="0" smtClean="0"/>
              <a:t>Trajanje ugovora kao važan faktor u predikciji</a:t>
            </a:r>
          </a:p>
          <a:p>
            <a:r>
              <a:rPr lang="hr-HR" dirty="0" smtClean="0"/>
              <a:t>Veći mjesečni troškovi - napuštanje usluge</a:t>
            </a:r>
            <a:endParaRPr dirty="0"/>
          </a:p>
        </p:txBody>
      </p:sp>
      <p:pic>
        <p:nvPicPr>
          <p:cNvPr id="4" name="Slik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5362"/>
            <a:ext cx="4608095" cy="3730753"/>
          </a:xfrm>
          <a:prstGeom prst="rect">
            <a:avLst/>
          </a:prstGeom>
        </p:spPr>
      </p:pic>
      <p:pic>
        <p:nvPicPr>
          <p:cNvPr id="6" name="Slik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346" y="3104988"/>
            <a:ext cx="4439653" cy="348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6652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Analiza</a:t>
            </a:r>
            <a:r>
              <a:rPr dirty="0"/>
              <a:t> </a:t>
            </a:r>
            <a:r>
              <a:rPr dirty="0" err="1"/>
              <a:t>podataka</a:t>
            </a:r>
            <a:r>
              <a:rPr dirty="0"/>
              <a:t> (EDA)</a:t>
            </a:r>
          </a:p>
        </p:txBody>
      </p:sp>
      <p:pic>
        <p:nvPicPr>
          <p:cNvPr id="7" name="Slika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23" y="2069432"/>
            <a:ext cx="6797890" cy="4709472"/>
          </a:xfrm>
          <a:prstGeom prst="rect">
            <a:avLst/>
          </a:prstGeom>
        </p:spPr>
      </p:pic>
      <p:sp>
        <p:nvSpPr>
          <p:cNvPr id="8" name="Rezervirano mjesto sadržaja 7"/>
          <p:cNvSpPr>
            <a:spLocks noGrp="1"/>
          </p:cNvSpPr>
          <p:nvPr>
            <p:ph idx="1"/>
          </p:nvPr>
        </p:nvSpPr>
        <p:spPr>
          <a:xfrm>
            <a:off x="609599" y="1528010"/>
            <a:ext cx="6347714" cy="3622763"/>
          </a:xfrm>
        </p:spPr>
        <p:txBody>
          <a:bodyPr/>
          <a:lstStyle/>
          <a:p>
            <a:r>
              <a:rPr lang="hr-HR" dirty="0" smtClean="0"/>
              <a:t>Najvažniji faktori : Trajanje korisničke usluge i mjesečni trošak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035505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Analiza podataka (EDA)</a:t>
            </a:r>
          </a:p>
        </p:txBody>
      </p:sp>
      <p:sp>
        <p:nvSpPr>
          <p:cNvPr id="3" name="AutoShape 2" descr="data:image/png;base64,iVBORw0KGgoAAAANSUhEUgAAAjsAAAHHCAYAAABZbpmkAAAAOnRFWHRTb2Z0d2FyZQBNYXRwbG90bGliIHZlcnNpb24zLjEwLjAsIGh0dHBzOi8vbWF0cGxvdGxpYi5vcmcvlHJYcgAAAAlwSFlzAAAPYQAAD2EBqD+naQAAQRtJREFUeJzt3Xt8zvX/x/HnNZttxjbMTpgtiTkLaeSrWCGVoqQv5diRSr6pVCJySCWRQ8fpoHzjG/VVYeZUWnMuhxGa5oeZOc1xZnv//nDb9XXZsMM11/bZ4367Xbeb63N8vT+fy3U99/6cbMYYIwAAAItyc3UBAAAAxYmwAwAALI2wAwAALI2wAwAALI2wAwAALI2wAwAALI2wAwAALI2wAwAALI2wAwAl0ObNm/XBBx/Y38+ePVsJCQkurAgovQg7KHVGjRolm812TdZ166236tZbb7W/X7FihWw2m+bNm3dN1n8xm82mUaNG2d/PmjVLNptNe/bsuea1FEZ4eLj69u1brOvo27evwsPDnba8W2+9VQ0bNnTa8i4nr8903bp1NWXKFH399ddaunSpXnnlFdWvX7/Ya7mca7H/CsvZ+x3WQ9iBS+X8YOe8vLy8FBoaqo4dO2rKlCk6ceKEU9azf/9+jRo1Sps2bXLK8qzo119/1ahRo3Ts2DFXlwJJ5cuX16effqpBgwbp4Ycf1syZM1WpUiX7eD7TQP7ZeDYWXGnWrFnq16+fRo8erYiICGVmZiolJUUrVqxQbGyswsLC9P3336tx48b2ec6fP6/z58/Ly8sr3+tZt26dWrZsqZiYmAL9dXru3DlJF354pAs9O7fddpvmzp2r+++/P9/LcYazZ8/K3d1d7u7ukqSsrCxlZmbK09PTKT1db7/9toYNG6akpKRi+Ss5IyNDbm5u8vDwcPqyc2RmZio7O1uenp5OWd6tt96qtLQ0bdmyxSnLu5wrfaZnz56t06dP69FHH3UYXtjPdGFdi/1XWH379tWKFStKTS8nrj13VxcASFLnzp3VokUL+/vhw4dr2bJluuuuu3TPPfcoMTFR3t7ekuTwg19cTp8+rQoVKthDTklw6Q9huXLlVK5cOZfUkp2drXPnzhUocDorgFxJSfwhvpJTp07Jx8fnip/pXr16XeOq8nYt9h9QXDiMhRKrffv2GjFihP7++299+eWX9uF5nd8QGxurW265Rf7+/qpYsaLq1q2rl19+WdKF3piWLVtKkvr162c/ZDZr1ixJ/zsvY/369frHP/6hChUq2Oe99JydHFlZWXr55ZcVHBwsHx8f3XPPPdq7d6/DNJc7xyGvZZ49e1ajRo3SDTfcIC8vL4WEhKhbt27avXu3fZr8nLPz3XffqUuXLgoNDZWnp6dq166tMWPGKCsrK89tnGPUqFEaNmyYJCkiIsK+jXKWbbPZNHjwYM2ePVsNGjSQp6enFi1aJOlCj1Dr1q1VtWpVeXt7q3nz5nme03Tp9jhy5Iief/55NWrUSBUrVpSvr686d+6s33//3WG+nPOkvvnmG40dO1Y1atSQl5eXOnTooF27djlMm9e5G/mtL7+WLFmiChUq6KGHHtL58+clScuWLVPbtm3l4+Mjf39/de3aVYmJiQ7z5Xxut23bpn/+85+qXLmybrnlFodxFyvKZ1qSEhIS1KlTJ/n5+alChQpq166dVq9enWdNu3btUt++feXv7y8/Pz/169dPp0+fdpi2sPsvL3v27MlVb45LP+cnTpzQkCFDFB4eLk9PTwUGBur222/Xhg0bLrv8nM/MihUr8rXeuXPnqn79+vLy8lLDhg01f/78PD9L2dnZmjx5sho0aCAvLy8FBQXp8ccf19GjR6/aZrgWPTso0R5++GG9/PLLWrJkSa5u/Bxbt27VXXfdpcaNG2v06NHy9PTUrl277F/skZGRGj16tF577TU99thjatu2rSSpdevW9mUcPnxYnTt3Vs+ePdW7d28FBQVdsa6xY8fKZrPpxRdfVGpqqiZPnqzo6Ght2rTJ3gOVX1lZWbrrrrsUFxennj176tlnn9WJEycUGxurLVu2qHbt2vle1qxZs1SxYkUNHTpUFStW1LJly/Taa68pPT1db7311mXn69atm/788099/fXXevfddxUQECBJqlatmn2aZcuW6ZtvvtHgwYMVEBBg/yF47733dM8996hXr146d+6c5syZowceeEALFy5Uly5dLrvOv/76SwsWLNADDzygiIgIHTx4UB988IHatWunbdu2KTQ01GH6CRMmyM3NTc8//7yOHz+uiRMnqlevXle9Qqmw9eVl4cKFuv/++/Xggw/q008/Vbly5bR06VJ17txZ1113nUaNGqUzZ85o6tSpatOmjTZs2JDrB/OBBx5QnTp1NG7cOF3uLIKifqaXLVumzp07q3nz5ho5cqTc3NwUExOj9u3b6+eff9ZNN93ksL4ePXooIiJC48eP14YNG/Txxx8rMDBQb7755mW3RUH3X2E98cQTmjdvngYPHqz69evr8OHD+uWXX5SYmKgbb7yxyMv/4Ycf9OCDD6pRo0YaP368jh49qgEDBqh69eq5pn388cfth96feeYZJSUl6f3339fGjRu1evXqUtezWKYYwIViYmKMJLN27drLTuPn52eaNWtmfz9y5Ehz8Uf33XffNZLMoUOHLruMtWvXGkkmJiYm17h27doZSWbmzJl5jmvXrp39/fLly40kU716dZOenm4f/s033xhJ5r333rMPq1WrlunTp89Vl/npp58aSWbSpEm5ps3Ozrb/W5IZOXKk/X3OtktKSrIPO336dK5lPP7446ZChQrm7NmzucZd7K233sq1vIvX7ebmZrZu3Zpr3KXrPHfunGnYsKFp3769w/BLt8fZs2dNVlaWwzRJSUnG09PTjB492j4sZ5tHRkaajIwM+/D33nvPSDKbN2+2D+vTp4+pVatWoerLS7t27UyDBg2MMcb85z//MR4eHubRRx91qLtp06YmMDDQHD582D7s999/N25ubuaRRx6xD8v53D700EO51uPMz3R2drapU6eO6dixo8Pn5/Tp0yYiIsLcfvvtudbbv39/h2Xcd999pmrVqg7DCrv/8pKUlHTZ/4+Xfs79/PzMoEGDrri8S/d7zmdm+fLlV11vo0aNTI0aNcyJEyfsw1asWGEkOSzz559/NpLM7NmzHZa5aNGiPIejZOEwFkq8ihUrXvGqLH9/f0kXDuFkZ2cXah2enp7q169fvqd/5JFHHK6Muf/++xUSEqIff/yxwOv+z3/+o4CAAD399NO5xhX0xOOLe5VOnDihtLQ0tW3bVqdPn9b27dsLXNvF2rVrl+elzxev8+jRozp+/Ljatm17xcMM0oVt7uZ24SsoKytLhw8fth+uyWvefv36OZxDldOb8ddff11xPYWt72Jff/21HnzwQT3++OP64IMP7HUfOHBAmzZtUt++fVWlShX79I0bN9btt9+e5+fhiSeeuOr6ivKZ3rRpk3bu3Kl//vOfOnz4sNLS0pSWlqZTp06pQ4cOWrVqVa5lXlpT27ZtdfjwYaWnp192PQXdf4Xl7++vhIQE7d+/32nLzLF//35t3rxZjzzyiCpWrGgf3q5dOzVq1Mhh2rlz58rPz0+33367fZumpaWpefPmqlixopYvX+70+uA8hB2UeCdPnnQIFpd68MEH1aZNGw0cOFBBQUHq2bOnvvnmmwL9SFSvXr1AJyPXqVPH4b3NZtP1119fqKtBdu/erbp16zrlpOutW7fqvvvuk5+fn3x9fVWtWjX17t1bknT8+PEiLTsiIiLP4QsXLtTNN98sLy8vValSRdWqVdOMGTOuur7s7Gy9++67qlOnjjw9PRUQEKBq1arpjz/+yHPesLAwh/eVK1eWpKueL1HY+nIkJSWpd+/e6t69u6ZOneoQQP/++29JF+6Jc6nIyEh7yLjY5bbjxYrymd65c6ckqU+fPqpWrZrD6+OPP1ZGRkauthdm2xZ0/xXWxIkTtWXLFtWsWVM33XSTRo0addWAm185++/666/PNe7SYTt37tTx48cVGBiYa7uePHlSqampTqkJxYNzdlCi/d///Z+OHz+e55dRDm9vb61atUrLly/XDz/8oEWLFunf//632rdvryVLluTriqWCnmeTH5frlcnKyiqWq6iOHTumdu3aydfXV6NHj1bt2rXl5eWlDRs26MUXXyx0r1eOvLbRzz//rHvuuUf/+Mc/NH36dIWEhMjDw0MxMTH66quvrri8cePGacSIEerfv7/GjBmjKlWqyM3NTUOGDMmz1sttM3OFu2cUpb4cISEh9l67devWOVw1WBj5+awV5TOds+3eeustNW3aNM9pLu7FkAq3bQu6/y52pf8bl+rRo4fatm2r+fPna8mSJXrrrbf05ptv6ttvv1Xnzp2LvPz8ys7OVmBgoGbPnp3n+IvPb0PJQ9hBifbFF19Ikjp27HjF6dzc3NShQwd16NBBkyZN0rhx4/TKK69o+fLlio6Odvodl3P+es5hjNGuXbsc7gdUuXLlPG/Q9/fff+u6666zv69du7YSEhKUmZlZpBMcV6xYocOHD+vbb7/VP/7xD/vwpKSkfM1fmG30n//8R15eXlq8eLHDpckxMTFXnXfevHm67bbb9MknnzgMP3bsmP0E6aIqSn05vLy8tHDhQrVv316dOnXSypUr1aBBA0lSrVq1JEk7duzINd/27dsVEBAgHx+fQtVe2M90zgntvr6+io6OLtS686Mo+y+n5+jS/x85PS2XCgkJ0VNPPaWnnnpKqampuvHGGzV27NjLhp38Lj9n/116VV9ew2rXrq2lS5eqTZs2xfLHEYoXh7FQYi1btkxjxoxRRETEFe81cuTIkVzDcv6izcjIkCT7D46z7g78+eefO5xHNG/ePB04cMDhy7d27dr67bff7DcmlC4cUrn0EvXu3bsrLS1N77//fq71XOkv60vl/HV+8Tznzp3T9OnT8zV/YbZRuXLlZLPZHP5i3rNnjxYsWJCveS9t39y5c7Vv3758r78467uYn5+fFi9ebL/sOeeWACEhIWratKk+++wzh+22ZcsWLVmyRHfeeWeh6i7KZ7p58+aqXbu23n77bZ08eTLXcg4dOlSomi5VlP3n6+urgIAArVq1ymH4pZ/VrKysXIfEAgMDFRoaat8OealVq5bKlSt31eWHhoaqYcOG+vzzzx221cqVK7V582aHaXv06KGsrCyNGTMm1/rOnz/PncdLOHp2UCL89NNP2r59u86fP6+DBw9q2bJlio2NVa1atfT9999f8eZ1o0eP1qpVq9SlSxfVqlVLqampmj59umrUqGG/j0nt2rXl7+9vv+W+j4+PWrVqla/zJ/JSpUoV3XLLLerXr58OHjyoyZMn6/rrr3e4PH7gwIGaN2+eOnXqpB49emj37t368ssvc11K/sgjj+jzzz/X0KFDtWbNGrVt21anTp3S0qVL9dRTT6lr1675qql169aqXLmy+vTpo2eeeUY2m01ffPFFvgNT8+bNJUmvvPKKevbsKQ8PD919991X7Jno0qWLJk2apE6dOumf//ynUlNTNW3aNF1//fX6448/rri+u+66S6NHj1a/fv3UunVrbd68WbNnz3bo9SqqotR3qYCAAPu9b6Kjo/XLL7+oevXqeuutt9S5c2dFRUVpwIAB9kvP/fz8HO4XUxBF/Ux//PHH6ty5sxo0aKB+/fqpevXq2rdvn5YvXy5fX1/997//LVRdFyvq/hs4cKAmTJiggQMHqkWLFlq1apX+/PNPh2lOnDihGjVq6P7771eTJk1UsWJFLV26VGvXrtU777xz2WX7+fnpgQcesJ9jVbt2bS1cuDDP82rGjRunrl27qk2bNurXr5+OHj2q999/Xw0bNnQIQO3atdPjjz+u8ePHa9OmTbrjjjvk4eGhnTt3au7cuXrvvfeu+V3VUQCuuxAM+N/l0zmv8uXLm+DgYHP77beb9957z+Hy7hyXXqYbFxdnunbtakJDQ0358uVNaGioeeihh8yff/7pMN93331n6tevb9zd3R0uP7348uJLXe7S86+//toMHz7cBAYGGm9vb9OlSxfz999/55r/nXfeMdWrVzeenp6mTZs2Zt26dbmWacyFy4JfeeUVExERYTw8PExwcLC5//77ze7du+3TKB+Xnq9evdrcfPPNxtvb24SGhpoXXnjBLF68OM/LcPMyZswYU716dePm5uawbEmXvfz3k08+MXXq1DGenp6mXr16JiYmJtc+MibvS5f/9a9/mZCQEOPt7W3atGlj4uPjL7vN586d67C8vC4jzuvS8/zWl5e8Phu7du0yISEhJjIy0n5p+NKlS02bNm2Mt7e38fX1NXfffbfZtm2bw3w568zrcnJnf6aNMWbjxo2mW7dupmrVqsbT09PUqlXL9OjRw8TFxV21prw+W4Xdf5dz+vRpM2DAAOPn52cqVapkevToYVJTUx0+5xkZGWbYsGGmSZMmplKlSsbHx8c0adLETJ8+3WFZee33Q4cOme7du5sKFSqYypUrm8cff9xs2bIlz0ve58yZY+rVq2c8PT1Nw4YNzffff2+6d+9u6tWrl6vuDz/80DRv3tx4e3ubSpUqmUaNGpkXXnjB7N+//6pthuvwbCyglPrkk080cOBA7d27VzVq1HB1OVdVs2ZNdezYUR9//HGxrePhhx9WfHx8nudgoGiuxf4rSZo2bapq1aopNjbW1aXACThnByilDhw4IJvN5nB/l5IqMzNThw8fdtqJx5dz4MCBYl9HWXSt9p8rZGZm2h/7kWPFihX6/fff83xUDEonztkBSpmDBw9q3rx5mjlzpqKiolShQgVXl3RFixcv1pw5c3TmzBl16NChWNbxxx9/aMGCBVq1apX9GV9wjmux/1xp3759io6OVu/evRUaGqrt27dr5syZCg4OztcNIFE6EHaAUiYxMVHDhg3TTTfdpI8++sjV5VzVhAkTtGvXLo0dO1a33357sazj22+/1dSpU9WzZ08NHz68WNZRVl2L/edKlStXVvPmzfXxxx/r0KFD8vHxUZcuXTRhwgRVrVrV1eXBSThnBwAAWBrn7AAAAEsj7AAAAEvjnB1deObJ/v37ValSJac/VgAAABQPY4xOnDih0NBQubldvv+GsCNp//79qlmzpqvLAAAAhXC1+40RdiRVqlRJ0oWN5evr6+JqAABAfqSnp6tmzZr23/HLIezof0979vX1JewAAFDKXO0UFE5QBgAAlkbYAQAAlkbYAQAAlkbYAQAAlkbYAQAAlkbYAQAAlkbYAQAAlkbYAQAAlkbYAQAAlkbYAQAAlkbYAQAAlkbYAQAAlkbYAQAAlkbYAQAAlubu6gKsLjk5WWlpaYWaNyAgQGFhYU6uCACAsoWwU4ySk5NVr16kzpw5Xaj5vb0raPv2RAIPAABFQNgpRmlpaTpz5rRa9R8p35DwAs2bfmCPEj59XWlpaYQdAACKgLBzDfiGhKtKWF1XlwEAQJnECcoAAMDSCDsAAMDSCDsAAMDSCDsAAMDSCDsAAMDSCDsAAMDSCDsAAMDSCDsAAMDSCDsAAMDSCDsAAMDSCDsAAMDSCDsAAMDSCDsAAMDSCDsAAMDSCDsAAMDSCDsAAMDSCDsAAMDSCDsAAMDSXBp2srKyNGLECEVERMjb21u1a9fWmDFjZIyxT2OM0WuvvaaQkBB5e3srOjpaO3fudFjOkSNH1KtXL/n6+srf318DBgzQyZMnr3VzAABACeTSsPPmm29qxowZev/995WYmKg333xTEydO1NSpU+3TTJw4UVOmTNHMmTOVkJAgHx8fdezYUWfPnrVP06tXL23dulWxsbFauHChVq1apccee8wVTQIAACWMuytX/uuvv6pr167q0qWLJCk8PFxff/211qxZI+lCr87kyZP16quvqmvXrpKkzz//XEFBQVqwYIF69uypxMRELVq0SGvXrlWLFi0kSVOnTtWdd96pt99+W6Ghoa5pHAAAKBFc2rPTunVrxcXF6c8//5Qk/f777/rll1/UuXNnSVJSUpJSUlIUHR1tn8fPz0+tWrVSfHy8JCk+Pl7+/v72oCNJ0dHRcnNzU0JCQp7rzcjIUHp6usMLAABYk0t7dl566SWlp6erXr16KleunLKysjR27Fj16tVLkpSSkiJJCgoKcpgvKCjIPi4lJUWBgYEO493d3VWlShX7NJcaP368Xn/9dWc3BwAAlEAu7dn55ptvNHv2bH311VfasGGDPvvsM7399tv67LPPinW9w4cP1/Hjx+2vvXv3Fuv6AACA67i0Z2fYsGF66aWX1LNnT0lSo0aN9Pfff2v8+PHq06ePgoODJUkHDx5USEiIfb6DBw+qadOmkqTg4GClpqY6LPf8+fM6cuSIff5LeXp6ytPTsxhaBAAAShqX9uycPn1abm6OJZQrV07Z2dmSpIiICAUHBysuLs4+Pj09XQkJCYqKipIkRUVF6dixY1q/fr19mmXLlik7O1utWrW6Bq0AAAAlmUt7du6++26NHTtWYWFhatCggTZu3KhJkyapf//+kiSbzaYhQ4bojTfeUJ06dRQREaERI0YoNDRU9957ryQpMjJSnTp10qOPPqqZM2cqMzNTgwcPVs+ePbkSCwAAuDbsTJ06VSNGjNBTTz2l1NRUhYaG6vHHH9drr71mn+aFF17QqVOn9Nhjj+nYsWO65ZZbtGjRInl5edmnmT17tgYPHqwOHTrIzc1N3bt315QpU1zRJAAAUMLYzMW3Ky6j0tPT5efnp+PHj8vX19dpy92wYYOaN2+u21+JUZWwugWa90jyDsWO7af169frxhtvdFpNAABYRX5/v3k2F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R3VxcAAABKvuTkZKWlpRVq3oCAAIWFhTm5ovwj7AAAgCtKTk5WvXqROnPmdKHm9/auoO3bE10WeAg7AADgitLS0nTmzGm16j9SviHhBZo3/cAeJXz6utLS0gg7AACgZPMNCVeVsLquLqPAOEEZAABYGmEHAABYGmEHAABYGmEHAABYGmEHAABYGmEHAABYGmEHAABYGmEHAABYGmEHAABYGmEHAABYGmEHAABYGmEHAABYGmEHAABYGmEHAABYmsvDzr59+9S7d29VrVpV3t7eatSokdatW2cfb4zRa6+9ppCQEHl7eys6Olo7d+50WMaRI0fUq1cv+fr6yt/fXwMGDNDJkyevdVMAAEAJ5NKwc/ToUbVp00YeHh766aeftG3bNr3zzjuqXLmyfZqJEydqypQpmjlzphISEuTj46OOHTvq7Nmz9ml69eqlrVu3KjY2VgsXLtSqVav02GOPuaJJAACghHF35crffPNN1axZUzExMfZhERER9n8bYzR58mS9+uqr6tq1qyTp888/V1BQkBYsWKCePXsqMTFRixYt0tq1a9WiRQtJ0tSpU3XnnXfq7bffVmho6LVtFAAAKFFc2rPz/fffq0WLFnrggQcUGBioZs2a6aOPPrKPT0pKUkpKiqKjo+3D/Pz81KpVK8XHx0uS4uPj5e/vbw86khQdHS03NzclJCTkud6MjAylp6c7vAAAgDW5NOz89ddfmjFjhurUqaPFixfrySef1DPPPKPPPvtMkpSSkiJJCgoKcpgvKCjIPi4lJUWBgYEO493d3VWlShX7NJcaP368/Pz87K+aNWs6u2kAAKCEcGnYyc7O1o033qhx48apWbNmeuyxx/Too49q5syZxbre4cOH6/jx4/bX3r17i3V9AADAdVwadkJCQlS/fn2HYZGRkUpOTpYkBQcHS5IOHjzoMM3Bgwft44KDg5Wamuow/vz58zpy5Ih9mkt5enrK19fX4QUAAKzJpWGnTZs22rFjh8OwP//8U7Vq1ZJ04WTl4OBgxcXF2cenp6crISFBUVFRkqSoqCgdO3ZM69evt0+zbNkyZWdnq1WrVtegFQAAoCRz6dVYzz33nFq3bq1x48apR48eWrNmjT788EN9+OGHkiSbzaYhQ4bojTfeUJ06dRQREaERI0YoNDRU9957r6QLPUGdOnWyH/7KzMzU4MGD1bNnT67EAgAArg07LVu21Pz58zV8+HCNHj1aERERmjx5snr16mWf5oUXXtCpU6f02GOP6dixY7rlllu0aNEieXl52aeZPXu2Bg8erA4dOsjNzU3du3fXlClTXNEkAABQwrg07EjSXXfdpbvuuuuy4202m0aPHq3Ro0dfdpoqVaroq6++Ko7yAABAKefyx0UAAAAUJ8IOAACwNMIOAACwNMIOAACwNMIOAACwNMIOAACwNMIOAACwNMIOAACwNMIOAACwNMIOAACwNMIOAACwNMIOAACwNMIOAACwNMIOAACwNMIOAACwNMIOAACwNMIOAACwNMIOAACwNMIOAACwNMIOAACwNMIOAACwNMIOAACwNMIOAACwNMIOAACwNMIOAACwNMIOAACwNMIOAACwNMIOAACwNMIOAACwNMIOAACwNMIOAACwNMIOAACwNMIOAACwNMIOAACwNMIOAACwtEKFneuuu06HDx/ONfzYsWO67rrrilwUAACAsxQq7OzZs0dZWVm5hmdkZGjfvn1FLgoAAMBZ3Asy8ffff2//9+LFi+Xn52d/n5WVpbi4OIWHhzutOAAAgKIqUNi59957JUk2m019+vRxGOfh4aHw8HC98847TisOAACgqAoUdrKzsyVJERERWrt2rQICAoqlKAAAAGcpUNjJkZSU5Ow6AAAAikWhwo4kxcXFKS4uTqmpqfYenxyffvppkQsDAABwhkKFnddff12jR49WixYtFBISIpvN5uy6AAAAnKJQYWfmzJmaNWuWHn74YWfXAwAA4FSFus/OuXPn1Lp1a2fXAgAA4HSFCjsDBw7UV1995exaAAAAnK5Qh7HOnj2rDz/8UEuXLlXjxo3l4eHhMH7SpElOKQ4AAKCoChV2/vjjDzVt2lSStGXLFodxnKwMAABKkkKFneXLlzu7DgAAgGJRqHN2AAAASotC9ezcdtttVzxctWzZskIXBAAA4EyFCjs55+vkyMzM1KZNm7Rly5ZcDwgFAABwpUKFnXfffTfP4aNGjdLJkyeLVBAAAIAzOfWcnd69e/NcLAAAUKI4NezEx8fLy8vLmYsEAAAokkIdxurWrZvDe2OMDhw4oHXr1mnEiBFOKQwAAMAZChV2/Pz8HN67ubmpbt26Gj16tO644w6nFAYAAOAMhQo7MTExzq4DAACgWBQq7ORYv369EhMTJUkNGjRQs2bNnFIUAACAsxQq7KSmpqpnz55asWKF/P39JUnHjh3Tbbfdpjlz5qhatWrOrBEAAKDQCnU11tNPP60TJ05o69atOnLkiI4cOaItW7YoPT1dzzzzjLNrBAAAKLRC9ewsWrRIS5cuVWRkpH1Y/fr1NW3aNE5QBgAAJUqhenays7Pl4eGRa7iHh4eys7OLXBQAAICzFCrstG/fXs8++6z2799vH7Zv3z4999xz6tChg9OKAwAAKKpChZ33339f6enpCg8PV+3atVW7dm1FREQoPT1dU6dOdXaNAAAAhVaoc3Zq1qypDRs2aOnSpdq+fbskKTIyUtHR0U4tDgAAoKgK1LOzbNky1a9fX+np6bLZbLr99tv19NNP6+mnn1bLli3VoEED/fzzz8VVKwAAQIEVKOxMnjxZjz76qHx9fXON8/Pz0+OPP65JkyY5rTgAAICiKlDY+f3339WpU6fLjr/jjju0fv36IhcFAADgLAUKOwcPHszzkvMc7u7uOnToUJGLAgAAcJYChZ3q1atry5Ytlx3/xx9/KCQkpMhFAQAAOEuBws6dd96pESNG6OzZs7nGnTlzRiNHjtRdd91VqEImTJggm82mIUOG2IedPXtWgwYNUtWqVVWxYkV1795dBw8edJgvOTlZXbp0UYUKFRQYGKhhw4bp/PnzhaoBAABYT4EuPX/11Vf17bff6oYbbtDgwYNVt25dSdL27ds1bdo0ZWVl6ZVXXilwEWvXrtUHH3ygxo0bOwx/7rnn9MMPP2ju3Lny8/PT4MGD1a1bN61evVqSlJWVpS5duig4OFi//vqrDhw4oEceeUQeHh4aN25cgesAAADWU6CwExQUpF9//VVPPvmkhg8fLmOMJMlms6ljx46aNm2agoKCClTAyZMn1atXL3300Ud644037MOPHz+uTz75RF999ZXat28vSYqJiVFkZKR+++033XzzzVqyZIm2bdumpUuXKigoSE2bNtWYMWP04osvatSoUSpfvnye68zIyFBGRob9fXp6eoFqBgAApUeB76Bcq1Yt/fjjj0pLS1NCQoJ+++03paWl6ccff1RERESBCxg0aJC6dOmS64aE69evV2ZmpsPwevXqKSwsTPHx8ZKk+Ph4NWrUyCFgdezYUenp6dq6detl1zl+/Hj5+fnZXzVr1ixw3QAAoHQo1B2UJaly5cpq2bJlkVY+Z84cbdiwQWvXrs01LiUlReXLl5e/v7/D8KCgIKWkpNinubQnKed9zjR5GT58uIYOHWp/n56eTuABAMCiCh12imrv3r169tlnFRsbKy8vr2u6bk9PT3l6el7TdQIAANco1INAnWH9+vVKTU3VjTfeKHd3d7m7u2vlypWaMmWK3N3dFRQUpHPnzunYsWMO8x08eFDBwcGSpODg4FxXZ+W8z5kGAACUbS4LOx06dNDmzZu1adMm+6tFixbq1auX/d8eHh6Ki4uzz7Njxw4lJycrKipKkhQVFaXNmzcrNTXVPk1sbKx8fX1Vv379a94mAABQ8rjsMFalSpXUsGFDh2E+Pj6qWrWqffiAAQM0dOhQValSRb6+vnr66acVFRWlm2++WdKFx1PUr19fDz/8sCZOnKiUlBS9+uqrGjRoEIepAACAJBeGnfx499135ebmpu7duysjI0MdO3bU9OnT7ePLlSunhQsX6sknn1RUVJR8fHzUp08fjR492oVVAwCAkqREhZ0VK1Y4vPfy8tK0adM0bdq0y86Tcyk8AABAXlx2zg4AAMC1UKJ6dpBbYmJioeYLCAhQWFiYk6sBAKD0IeyUUGeOH5ZkU+/evQs1v6enl/7zn3mFego9QQkAYCWEnRIq8/QJSUZN//miqkXUK9C8h3b+rk3fvFfoJ9B7e1fQ9u2JBB4AgCUQdkq4ioFhqhJWt0DzpB/Yo8IGpfQDe5Tw6etKS0sj7AAALIGwY2GFCUoAAFgNV2MBAABLI+wAAABLI+wAAABLI+wAAABLI+wAAABLI+wAAABLI+wAAABLI+wAAABLI+wAAABLI+wAAABLI+wAAABLI+wAAABLI+wAAABLI+wAAABLI+wAAABLI+wAAABLI+wAAABLI+wAAABLI+wAAABLI+wAAABLI+wAAABLI+wAAABLI+wAAABLI+wAAABLI+wAAABLc3d1AUCO5ORkpaWlFWregIAAhYWFObkiAIAVEHZQIiQnJ6tevUidOXO6UPN7e1fQ9u2JBB4AQC6EHZQIaWlpOnPmtFr1HynfkPACzZt+YI8SPn1daWlphB0AQC6EHZQoviHhqhJW19VlAAAshBOUAQCApRF2AACApRF2AACApRF2AACApRF2AACApRF2AACApRF2AACApRF2AACApRF2AACApRF2AACApRF2AACApRF2AACApfEgUAAASpHk5GSlpaUVat6AgACFhYU5uaKSj7ADAEApkZycrHr1InXmzOlCze/tXUHbtyeWucBD2AEAoJRIS0vTmTOn1ar/SPmGhBdo3vQDe5Tw6etKS0sj7ABlDV3CAEob35BwVQmr6+oySg3CDso0uoQBwPoIOyjTSnOXMD1SAJA/hB1Apa9LmB4pAMg/wg5QCpXmHikAuNYIO0ApVtp6pADAFQg7yFNiYmKh5uNcEABASUPYgYMzxw9Lsql3796Fmp9zQQAAJQ1hBw4yT5+QZNT0ny+qWkS9As3LuSAAgJKIsIM8VQwM41wQAIAl8NRzAABgaYQdAABgaYQdAABgaYQdAABgaZygDABAIfB8utKDsAMAQAHxfLrShbADAEAB8Xy60oWwA6crzKMmCvt4CgBwJZ5PVzoQduA0RX3UhCRlZpxzXkEAAIiwAycqyqMmDmyO15bvP9T58+eLpzg4DSdlAihtXBp2xo8fr2+//Vbbt2+Xt7e3WrdurTfffFN16/6vS/Ds2bP617/+pTlz5igjI0MdO3bU9OnTFRQUZJ8mOTlZTz75pJYvX66KFSuqT58+Gj9+vNzdyXKuUJhHTaQf2FM8xcCpOCkTQGnk0jSwcuVKDRo0SC1bttT58+f18ssv64477tC2bdvk4+MjSXruuef0ww8/aO7cufLz89PgwYPVrVs3rV69WpKUlZWlLl26KDg4WL/++qsOHDigRx55RB4eHho3bpwrmwdYDidlAiiNXBp2Fi1a5PB+1qxZCgwM1Pr16/WPf/xDx48f1yeffKKvvvpK7du3lyTFxMQoMjJSv/32m26++WYtWbJE27Zt09KlSxUUFKSmTZtqzJgxevHFFzVq1CiVL1/eFU0DLI2TMuFsHB5FcSpRx3mOHz8uSapSpYokaf369crMzFR0dLR9mnr16iksLEzx8fG6+eabFR8fr0aNGjkc1urYsaOefPJJbd26Vc2aNcu1noyMDGVkZNjfp6enF1eTAJRh/IDnD4dHUdxKTNjJzs7WkCFD1KZNGzVs2FCSlJKSovLly8vf399h2qCgIKWkpNinuTjo5IzPGZeX8ePH6/XXX3dyCwDgf0rrD7grAhqHR1HcSkzYGTRokLZs2aJffvml2Nc1fPhwDR061P4+PT1dNWvWLPb1Aig7SuMPuKsDGodHr42yeC+0EhF2Bg8erIULF2rVqlWqUaOGfXhwcLDOnTunY8eOOfTuHDx4UMHBwfZp1qxZ47C8gwcP2sflxdPTU56enk5uBQDkVpp+wEtjQEP+leV7obk07Bhj9PTTT2v+/PlasWKFIiIiHMY3b95cHh4eiouLU/fu3SVJO3bsUHJysqKioiRJUVFRGjt2rFJTUxUYGChJio2Nla+vr+rXr39tGwQAFlCaAhryryzfC82lYWfQoEH66quv9N1336lSpUr2c2z8/Pzk7e0tPz8/DRgwQEOHDlWVKlXk6+urp59+WlFRUbr55pslSXfccYfq16+vhx9+WBMnTlRKSopeffVVDRo0iN4bAAAuURbvhebSsDNjxgxJ0q233uowPCYmRn379pUkvfvuu3Jzc1P37t0dbiqYo1y5clq4cKGefPJJRUVFycfHR3369NHo0aOvVTMAAEAJ5vLDWFfj5eWladOmadq0aZedplatWvrxxx+dWRoAALAIN1cXAAAAUJxKxNVYgDOUxcspAQBXR9hBqVdaL6csys3bCGkAkH+EHZR6pfFyyqLevC1Hab3nxbXGYxuAso2wA8soTZdTFuXmbVLpv+fFteTquwIDcD3CDuBChb15W2m/58W1xF2BARB2AJQJ3BUYKLu49BwAAFgaYQcAAFgaYQcAAFgaYQcAAFgaJygDKBUKe68cbsAIgLADoMRzxk0YuQEjShoecXPtEHYAlHhFuVcON2C8tvgBv7rS+oib0oywA6DUKMy9crgB47XBD3j+lcZH3JR2hB0AQJG5+ge8sL1Drnz2WWl6xE1pR9gBAItx5cnc1/oHvKg9Sjz7rGwg7ACAhZS1k7mL0qPEs8/KDsIOAFhIWT2ZuzA9Sig7CDtAEXH1ScGwva4NTuYG/oewAxQSV58UDNsLgKsQdoBCcvXVJ0V1rXtYSvv2AlB6EXaAIiptl4+6uoeltG0vWB+HVq2PsAOUMfSwABe4Ovjj2iHsAGUUPSwo6wj+ZQdhBwCugsMc1kbwtz7CDgBcBoc5AGsg7ADAZXCYA7AGwg4AXIWrDnNw+AxwDsIOAJQwHD4DnIuwAwAlDIfPAOci7ABACcVVQoBzuLm6AAAAgOJE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mmbAzbdo0hYeHy8vLS61atdKaNWtcXRIAACgBLBF2/v3vf2vo0KEaOXKkNmzYoCZNmqhjx45KTU11dWkAAMDFLBF2Jk2apEcffVT9+vVT/fr1NXPmTFWoUEGffvqpq0sDAAAu5u7qAorq3LlzWr9+vYYPH24f5ubmpujoaMXHx+c5T0ZGhjIyMuzvjx8/LklKT093am0nT56UJB35e4fOZ5wp0LzpB/6+UNu+nfJwtzEv85aIdTMv8zIv8xZ43pRkSRd+E539O5uzPGPMlSc0pdy+ffuMJPPrr786DB82bJi56aab8pxn5MiRRhIvXrx48eLFywKvvXv3XjErlPqencIYPny4hg4dan+fnZ2tI0eOqGrVqrLZCv5X9uWkp6erZs2a2rt3r3x9fZ223NKgrLa9rLZbou1lse1ltd0SbS8pbTfG6MSJEwoNDb3idKU+7AQEBKhcuXI6ePCgw/CDBw8qODg4z3k8PT3l6enpMMzf37+4SpSvr6/LPxCuUlbbXlbbLdH2stj2stpuibaXhLb7+flddZpSf4Jy+fLl1bx5c8XFxdmHZWdnKy4uTlFRUS6sDAAAlASlvmdHkoYOHao+ffqoRYsWuummmzR58mSdOnVK/fr1c3VpAADAxSwRdh588EEdOnRIr732mlJSUtS0aVMtWrRIQUFBLq3L09NTI0eOzHXIrCwoq20vq+2WaHtZbHtZbbdE20tb223GXO16LQAAgNKr1J+zAwAAcCWEHQAAYGmEHQAAYGmEHQAAYGmEnWI0bdo0hYeHy8vLS61atdKaNWtcXZLTrVq1SnfffbdCQ0Nls9m0YMECh/HGGL322msKCQmRt7e3oqOjtXPnTtcU60Tjx49Xy5YtValSJQUGBuree+/Vjh07HKY5e/asBg0apKpVq6pixYrq3r17rptfljYzZsxQ48aN7TcTi4qK0k8//WQfb8U2X86ECRNks9k0ZMgQ+zCrtn/UqFGy2WwOr3r16tnHW7XdkrRv3z717t1bVatWlbe3txo1aqR169bZx1v1Oy48PDzXPrfZbBo0aJCk0rfPCTvF5N///reGDh2qkSNHasOGDWrSpIk6duyo1NRUV5fmVKdOnVKTJk00bdq0PMdPnDhRU6ZM0cyZM5WQkCAfHx917NhRZ8+evcaVOtfKlSs1aNAg/fbbb4qNjVVmZqbuuOMOnTp1yj7Nc889p//+97+aO3euVq5cqf3796tbt24urLroatSooQkTJmj9+vVat26d2rdvr65du2rr1q2SrNnmvKxdu1YffPCBGjdu7DDcyu1v0KCBDhw4YH/98ssv9nFWbffRo0fVpk0beXh46KefftK2bdv0zjvvqHLlyvZprPodt3btWof9HRsbK0l64IEHJJXCfe6Mh3Eit5tuuskMGjTI/j4rK8uEhoaa8ePHu7Cq4iXJzJ8/3/4+OzvbBAcHm7feess+7NixY8bT09N8/fXXLqiw+KSmphpJZuXKlcaYC+308PAwc+fOtU+TmJhoJJn4+HhXlVksKleubD7++OMy0+YTJ06YOnXqmNjYWNOuXTvz7LPPGmOsvc9HjhxpmjRpkuc4K7f7xRdfNLfccstlx5el77hnn33W1K5d22RnZ5fKfU7PTjE4d+6c1q9fr+joaPswNzc3RUdHKz4+3oWVXVtJSUlKSUlx2A5+fn5q1aqV5bbD8ePHJUlVqlSRJK1fv16ZmZkOba9Xr57CwsIs0/asrCzNmTNHp06dUlRUVJlosyQNGjRIXbp0cWinZP19vnPnToWGhuq6665Tr169lJycLMna7f7+++/VokULPfDAAwoMDFSzZs300Ucf2ceXle+4c+fO6csvv1T//v1ls9lK5T4n7BSDtLQ0ZWVl5bqDc1BQkFJSUlxU1bWX01arb4fs7GwNGTJEbdq0UcOGDSVdaHv58uVzPWDWCm3fvHmzKlasKE9PTz3xxBOaP3++6tevb+k255gzZ442bNig8ePH5xpn5fa3atVKs2bN0qJFizRjxgwlJSWpbdu2OnHihKXb/ddff2nGjBmqU6eOFi9erCeffFLPPPOMPvvsM0ll5ztuwYIFOnbsmPr27SupdH7WLfG4CMCVBg0apC1btjicw2BldevW1aZNm3T8+HHNmzdPffr00cqVK11dVrHbu3evnn32WcXGxsrLy8vV5VxTnTt3tv+7cePGatWqlWrVqqVvvvlG3t7eLqyseGVnZ6tFixYaN26cJKlZs2basmWLZs6cqT59+ri4umvnk08+UefOnRUaGurqUgqNnp1iEBAQoHLlyuU6M/3gwYMKDg52UVXXXk5brbwdBg8erIULF2r58uWqUaOGfXhwcLDOnTunY8eOOUxvhbaXL19e119/vZo3b67x48erSZMmeu+99yzdZunC4ZrU1FTdeOONcnd3l7u7u1auXKkpU6bI3d1dQUFBlm7/xfz9/XXDDTdo165dlt7vISEhql+/vsOwyMhI+yG8svAd9/fff2vp0qUaOHCgfVhp3OeEnWJQvnx5NW/eXHFxcfZh2dnZiouLU1RUlAsru7YiIiIUHBzssB3S09OVkJBQ6reDMUaDBw/W/PnztWzZMkVERDiMb968uTw8PBzavmPHDiUnJ5f6tl8qOztbGRkZlm9zhw4dtHnzZm3atMn+atGihXr16mX/t5Xbf7GTJ09q9+7dCgkJsfR+b9OmTa5bSvz555+qVauWJGt/x+WIiYlRYGCgunTpYh9WKve5q8+Qtqo5c+YYT09PM2vWLLNt2zbz2GOPGX9/f5OSkuLq0pzqxIkTZuPGjWbjxo1Gkpk0aZLZuHGj+fvvv40xxkyYMMH4+/ub7777zvzxxx+ma9euJiIiwpw5c8bFlRfNk08+afz8/MyKFSvMgQMH7K/Tp0/bp3niiSdMWFiYWbZsmVm3bp2JiooyUVFRLqy66F566SWzcuVKk5SUZP744w/z0ksvGZvNZpYsWWKMsWabr+Tiq7GMsW77//Wvf5kVK1aYpKQks3r1ahMdHW0CAgJMamqqMca67V6zZo1xd3c3Y8eONTt37jSzZ882FSpUMF9++aV9Gqt+xxlz4SrisLAw8+KLL+YaV9r2OWGnGE2dOtWEhYWZ8uXLm5tuusn89ttvri7J6ZYvX24k5Xr16dPHGHPh0swRI0aYoKAg4+npaTp06GB27Njh2qKdIK82SzIxMTH2ac6cOWOeeuopU7lyZVOhQgVz3333mQMHDriuaCfo37+/qVWrlilfvrypVq2a6dChgz3oGGPNNl/JpWHHqu1/8MEHTUhIiClfvrypXr26efDBB82uXbvs463abmOM+e9//2saNmxoPD09Tb169cyHH37oMN6q33HGGLN48WIjKc/2lLZ9bjPGGJd0KQEAAFwDnLMDAAAsjbADAAAsjbADAAAsjbADAAAsjbADAAAsjbADAAAsjbADAAAsjbADAAAsjbADANfQqFGj1LRpU1eXAZQphB0AebLZbFd8jRo1ytUl5tuePXtks9lUrlw57du3z2HcgQMH5O7uLpvNpj179jh1vTabTQsWLHDqMgEUHGEHQJ4OHDhgf02ePFm+vr4Ow55//vlrXtO5c+eKNH/16tX1+eefOwz77LPPVL169SItF0DJRtgBkKfg4GD7y8/PTzabzWHYnDlzFBkZKS8vL9WrV0/Tp0+3z5vTk/Ltt9/qtttuU4UKFdSkSRPFx8fbp8nrcM7kyZMVHh5uf9+3b1/de++9Gjt2rEJDQ1W3bl1J0t69e9WjRw/5+/urSpUq6tq1a756Zfr06aOYmBiHYTExMerTp0+uaVeuXKmbbrpJnp6eCgkJ0UsvvaTz58/bx99666165pln9MILL6hKlSoKDg526O3Kacd9990nm83m0C5J+uKLLxQeHi4/Pz/17NlTJ06csI+bN2+eGjVqJG9vb1WtWlXR0dE6derUVdsHIG+EHQAFNnv2bL322msaO3asEhMTNW7cOI0YMUKfffaZw3SvvPKKnn/+eW3atEk33HCDHnroIYfAkB9xcXHasWOHYmNjtXDhQmVmZqpjx46qVKmSfv75Z61evVoVK1ZUp06drtrzc8899+jo0aP65ZdfJEm//PKLjh49qrvvvtthun379unOO+9Uy5Yt9fvvv2vGjBn65JNP9MYbbzhM99lnn8nHx0cJCQmaOHGiRo8erdjYWEnS2rVrJV0IUwcOHLC/l6Tdu3drwYIFWrhwoRYuXKiVK1dqwoQJki70qD300EPq37+/EhMTtWLFCnXr1k08sxkoAhc/dR1AKRATE2P8/Pzs72vXrm2++uorh2nGjBljoqKijDHGJCUlGUnm448/to/funWrkWQSExONMcaMHDnSNGnSxGEZ7777rqlVq5b9fZ8+fUxQUJDJyMiwD/viiy9M3bp1TXZ2tn1YRkaG8fb2NosXL86z/px6Nm7caIYMGWL69etnjDGmX79+5rnnnjMbN240kkxSUpIxxpiXX3451zqmTZtmKlasaLKysowxxrRr187ccsstDutp2bKlefHFF+3vJZn58+c7TDNy5EhToUIFk56ebh82bNgw06pVK2OMMevXrzeSzJ49e/JsC4CCo2cHQIGcOnVKu3fv1oABA1SxYkX764033tDu3bsdpm3cuLH93yEhIZKk1NTUAq2vUaNGKl++vP3977//rl27dqlSpUr2dVepUkVnz57Ntf689O/fX3PnzlVKSormzp2r/v3755omMTFRUVFRstls9mFt2rTRyZMn9X//9395ti+njflpX3h4uCpVqpTnfE2aNFGHDh3UqFEjPfDAA/roo4909OjRqy4TwOW5u7oAAKXLyZMnJUkfffSRWrVq5TCuXLlyDu89PDzs/84JDtnZ2ZIkNze3XIdmMjMzc63Px8cn1/qbN2+u2bNn55q2WrVqV62/UaNGqlevnh566CFFRkaqYcOG2rRp01Xny8vF7ZMutDGnfYWdr1y5coqNjdWvv/6qJUuWaOrUqXrllVeUkJCgiIiIQtUJlHX07AAokKCgIIWGhuqvv/7S9ddf7/AqyI9xtWrVlJKS4hB48hM6brzxRu3cuVOBgYG51u/n55evdffv318rVqzIs1dHkiIjIxUfH+9Q2+rVq1WpUiXVqFEjX+uQLoSarKysfE+fw2azqU2bNnr99de1ceNGlS9fXvPnzy/wcgBcQNgBUGCvv/66xo8frylTpujPP//U5s2bFRMTo0mTJuV7GbfeeqsOHTqkiRMnavfu3Zo2bZp++umnq87Xq1cvBQQEqGvXrvr555+VlJSkFStW6JlnnnE4xHQljz76qA4dOqSBAwfmOf6pp57S3r179fTTT2v79u367rvvNHLkSA0dOlRubvn/2gwPD1dcXJxSUlLyfSgqISFB48aN07p165ScnKxvv/1Whw4dUmRkZL7XC8ARYQdAgQ0cOFAff/yxYmJi1KhRI7Vr106zZs0qUM9OZGSkpk+frmnTpqlJkyZas2ZNvu7dU6FCBa1atUphYWHq1q2bIiMjNWDAAJ09e1a+vr75Wre7u7sCAgLk7p73kfzq1avrxx9/1Jo1a9SkSRM98cQTGjBggF599dV8t0+S3nnnHcXGxqpmzZpq1qxZvubx9fXVqlWrdOedd+qGG27Qq6++qnfeeUedO3cu0LoB/I/NXHrQHAAAwELo2QEAAJZG2AEAAJZG2AEAAJZG2AEAAJZG2AEAAJZG2AEAAJZG2AEAAJZG2AEAAJZG2AEAAJZG2AEAAJZG2AEAAJb2/2cOstBYXjYxAAAAAElFTkSuQmCC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09598" y="1691359"/>
            <a:ext cx="6347714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hr-HR" dirty="0" smtClean="0"/>
              <a:t>Novi korisnici imaju veću vjerojatnost odlaska</a:t>
            </a:r>
            <a:endParaRPr lang="hr-HR" dirty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43" y="2305142"/>
            <a:ext cx="5457441" cy="434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3297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643817" cy="1478692"/>
          </a:xfrm>
        </p:spPr>
        <p:txBody>
          <a:bodyPr>
            <a:normAutofit/>
          </a:bodyPr>
          <a:lstStyle/>
          <a:p>
            <a:r>
              <a:rPr lang="hr-HR" dirty="0" smtClean="0"/>
              <a:t>Treniranje modela</a:t>
            </a:r>
            <a:r>
              <a:rPr lang="hr-HR" dirty="0"/>
              <a:t/>
            </a:r>
            <a:br>
              <a:rPr lang="hr-HR" dirty="0"/>
            </a:br>
            <a:endParaRPr dirty="0"/>
          </a:p>
        </p:txBody>
      </p:sp>
      <p:sp>
        <p:nvSpPr>
          <p:cNvPr id="3" name="AutoShape 2" descr="data:image/png;base64,iVBORw0KGgoAAAANSUhEUgAAAjsAAAHHCAYAAABZbpmkAAAAOnRFWHRTb2Z0d2FyZQBNYXRwbG90bGliIHZlcnNpb24zLjEwLjAsIGh0dHBzOi8vbWF0cGxvdGxpYi5vcmcvlHJYcgAAAAlwSFlzAAAPYQAAD2EBqD+naQAAQRtJREFUeJzt3Xt8zvX/x/HnNZttxjbMTpgtiTkLaeSrWCGVoqQv5diRSr6pVCJySCWRQ8fpoHzjG/VVYeZUWnMuhxGa5oeZOc1xZnv//nDb9XXZsMM11/bZ4367Xbeb63N8vT+fy3U99/6cbMYYIwAAAItyc3UBAAAAxYmwAwAALI2wAwAALI2wAwAALI2wAwAALI2wAwAALI2wAwAALI2wAwAALI2wAwAl0ObNm/XBBx/Y38+ePVsJCQkurAgovQg7KHVGjRolm812TdZ166236tZbb7W/X7FihWw2m+bNm3dN1n8xm82mUaNG2d/PmjVLNptNe/bsuea1FEZ4eLj69u1brOvo27evwsPDnba8W2+9VQ0bNnTa8i4nr8903bp1NWXKFH399ddaunSpXnnlFdWvX7/Ya7mca7H/CsvZ+x3WQ9iBS+X8YOe8vLy8FBoaqo4dO2rKlCk6ceKEU9azf/9+jRo1Sps2bXLK8qzo119/1ahRo3Ts2DFXlwJJ5cuX16effqpBgwbp4Ycf1syZM1WpUiX7eD7TQP7ZeDYWXGnWrFnq16+fRo8erYiICGVmZiolJUUrVqxQbGyswsLC9P3336tx48b2ec6fP6/z58/Ly8sr3+tZt26dWrZsqZiYmAL9dXru3DlJF354pAs9O7fddpvmzp2r+++/P9/LcYazZ8/K3d1d7u7ukqSsrCxlZmbK09PTKT1db7/9toYNG6akpKRi+Ss5IyNDbm5u8vDwcPqyc2RmZio7O1uenp5OWd6tt96qtLQ0bdmyxSnLu5wrfaZnz56t06dP69FHH3UYXtjPdGFdi/1XWH379tWKFStKTS8nrj13VxcASFLnzp3VokUL+/vhw4dr2bJluuuuu3TPPfcoMTFR3t7ekuTwg19cTp8+rQoVKthDTklw6Q9huXLlVK5cOZfUkp2drXPnzhUocDorgFxJSfwhvpJTp07Jx8fnip/pXr16XeOq8nYt9h9QXDiMhRKrffv2GjFihP7++299+eWX9uF5nd8QGxurW265Rf7+/qpYsaLq1q2rl19+WdKF3piWLVtKkvr162c/ZDZr1ixJ/zsvY/369frHP/6hChUq2Oe99JydHFlZWXr55ZcVHBwsHx8f3XPPPdq7d6/DNJc7xyGvZZ49e1ajRo3SDTfcIC8vL4WEhKhbt27avXu3fZr8nLPz3XffqUuXLgoNDZWnp6dq166tMWPGKCsrK89tnGPUqFEaNmyYJCkiIsK+jXKWbbPZNHjwYM2ePVsNGjSQp6enFi1aJOlCj1Dr1q1VtWpVeXt7q3nz5nme03Tp9jhy5Iief/55NWrUSBUrVpSvr686d+6s33//3WG+nPOkvvnmG40dO1Y1atSQl5eXOnTooF27djlMm9e5G/mtL7+WLFmiChUq6KGHHtL58+clScuWLVPbtm3l4+Mjf39/de3aVYmJiQ7z5Xxut23bpn/+85+qXLmybrnlFodxFyvKZ1qSEhIS1KlTJ/n5+alChQpq166dVq9enWdNu3btUt++feXv7y8/Pz/169dPp0+fdpi2sPsvL3v27MlVb45LP+cnTpzQkCFDFB4eLk9PTwUGBur222/Xhg0bLrv8nM/MihUr8rXeuXPnqn79+vLy8lLDhg01f/78PD9L2dnZmjx5sho0aCAvLy8FBQXp8ccf19GjR6/aZrgWPTso0R5++GG9/PLLWrJkSa5u/Bxbt27VXXfdpcaNG2v06NHy9PTUrl277F/skZGRGj16tF577TU99thjatu2rSSpdevW9mUcPnxYnTt3Vs+ePdW7d28FBQVdsa6xY8fKZrPpxRdfVGpqqiZPnqzo6Ght2rTJ3gOVX1lZWbrrrrsUFxennj176tlnn9WJEycUGxurLVu2qHbt2vle1qxZs1SxYkUNHTpUFStW1LJly/Taa68pPT1db7311mXn69atm/788099/fXXevfddxUQECBJqlatmn2aZcuW6ZtvvtHgwYMVEBBg/yF47733dM8996hXr146d+6c5syZowceeEALFy5Uly5dLrvOv/76SwsWLNADDzygiIgIHTx4UB988IHatWunbdu2KTQ01GH6CRMmyM3NTc8//7yOHz+uiRMnqlevXle9Qqmw9eVl4cKFuv/++/Xggw/q008/Vbly5bR06VJ17txZ1113nUaNGqUzZ85o6tSpatOmjTZs2JDrB/OBBx5QnTp1NG7cOF3uLIKifqaXLVumzp07q3nz5ho5cqTc3NwUExOj9u3b6+eff9ZNN93ksL4ePXooIiJC48eP14YNG/Txxx8rMDBQb7755mW3RUH3X2E98cQTmjdvngYPHqz69evr8OHD+uWXX5SYmKgbb7yxyMv/4Ycf9OCDD6pRo0YaP368jh49qgEDBqh69eq5pn388cfth96feeYZJSUl6f3339fGjRu1evXqUtezWKYYwIViYmKMJLN27drLTuPn52eaNWtmfz9y5Ehz8Uf33XffNZLMoUOHLruMtWvXGkkmJiYm17h27doZSWbmzJl5jmvXrp39/fLly40kU716dZOenm4f/s033xhJ5r333rMPq1WrlunTp89Vl/npp58aSWbSpEm5ps3Ozrb/W5IZOXKk/X3OtktKSrIPO336dK5lPP7446ZChQrm7NmzucZd7K233sq1vIvX7ebmZrZu3Zpr3KXrPHfunGnYsKFp3769w/BLt8fZs2dNVlaWwzRJSUnG09PTjB492j4sZ5tHRkaajIwM+/D33nvPSDKbN2+2D+vTp4+pVatWoerLS7t27UyDBg2MMcb85z//MR4eHubRRx91qLtp06YmMDDQHD582D7s999/N25ubuaRRx6xD8v53D700EO51uPMz3R2drapU6eO6dixo8Pn5/Tp0yYiIsLcfvvtudbbv39/h2Xcd999pmrVqg7DCrv/8pKUlHTZ/4+Xfs79/PzMoEGDrri8S/d7zmdm+fLlV11vo0aNTI0aNcyJEyfsw1asWGEkOSzz559/NpLM7NmzHZa5aNGiPIejZOEwFkq8ihUrXvGqLH9/f0kXDuFkZ2cXah2enp7q169fvqd/5JFHHK6Muf/++xUSEqIff/yxwOv+z3/+o4CAAD399NO5xhX0xOOLe5VOnDihtLQ0tW3bVqdPn9b27dsLXNvF2rVrl+elzxev8+jRozp+/Ljatm17xcMM0oVt7uZ24SsoKytLhw8fth+uyWvefv36OZxDldOb8ddff11xPYWt72Jff/21HnzwQT3++OP64IMP7HUfOHBAmzZtUt++fVWlShX79I0bN9btt9+e5+fhiSeeuOr6ivKZ3rRpk3bu3Kl//vOfOnz4sNLS0pSWlqZTp06pQ4cOWrVqVa5lXlpT27ZtdfjwYaWnp192PQXdf4Xl7++vhIQE7d+/32nLzLF//35t3rxZjzzyiCpWrGgf3q5dOzVq1Mhh2rlz58rPz0+33367fZumpaWpefPmqlixopYvX+70+uA8hB2UeCdPnnQIFpd68MEH1aZNGw0cOFBBQUHq2bOnvvnmmwL9SFSvXr1AJyPXqVPH4b3NZtP1119fqKtBdu/erbp16zrlpOutW7fqvvvuk5+fn3x9fVWtWjX17t1bknT8+PEiLTsiIiLP4QsXLtTNN98sLy8vValSRdWqVdOMGTOuur7s7Gy9++67qlOnjjw9PRUQEKBq1arpjz/+yHPesLAwh/eVK1eWpKueL1HY+nIkJSWpd+/e6t69u6ZOneoQQP/++29JF+6Jc6nIyEh7yLjY5bbjxYrymd65c6ckqU+fPqpWrZrD6+OPP1ZGRkauthdm2xZ0/xXWxIkTtWXLFtWsWVM33XSTRo0addWAm185++/666/PNe7SYTt37tTx48cVGBiYa7uePHlSqampTqkJxYNzdlCi/d///Z+OHz+e55dRDm9vb61atUrLly/XDz/8oEWLFunf//632rdvryVLluTriqWCnmeTH5frlcnKyiqWq6iOHTumdu3aydfXV6NHj1bt2rXl5eWlDRs26MUXXyx0r1eOvLbRzz//rHvuuUf/+Mc/NH36dIWEhMjDw0MxMTH66quvrri8cePGacSIEerfv7/GjBmjKlWqyM3NTUOGDMmz1sttM3OFu2cUpb4cISEh9l67devWOVw1WBj5+awV5TOds+3eeustNW3aNM9pLu7FkAq3bQu6/y52pf8bl+rRo4fatm2r+fPna8mSJXrrrbf05ptv6ttvv1Xnzp2LvPz8ys7OVmBgoGbPnp3n+IvPb0PJQ9hBifbFF19Ikjp27HjF6dzc3NShQwd16NBBkyZN0rhx4/TKK69o+fLlio6Odvodl3P+es5hjNGuXbsc7gdUuXLlPG/Q9/fff+u6666zv69du7YSEhKUmZlZpBMcV6xYocOHD+vbb7/VP/7xD/vwpKSkfM1fmG30n//8R15eXlq8eLHDpckxMTFXnXfevHm67bbb9MknnzgMP3bsmP0E6aIqSn05vLy8tHDhQrVv316dOnXSypUr1aBBA0lSrVq1JEk7duzINd/27dsVEBAgHx+fQtVe2M90zgntvr6+io6OLtS686Mo+y+n5+jS/x85PS2XCgkJ0VNPPaWnnnpKqampuvHGGzV27NjLhp38Lj9n/116VV9ew2rXrq2lS5eqTZs2xfLHEYoXh7FQYi1btkxjxoxRRETEFe81cuTIkVzDcv6izcjIkCT7D46z7g78+eefO5xHNG/ePB04cMDhy7d27dr67bff7DcmlC4cUrn0EvXu3bsrLS1N77//fq71XOkv60vl/HV+8Tznzp3T9OnT8zV/YbZRuXLlZLPZHP5i3rNnjxYsWJCveS9t39y5c7Vv3758r78467uYn5+fFi9ebL/sOeeWACEhIWratKk+++wzh+22ZcsWLVmyRHfeeWeh6i7KZ7p58+aqXbu23n77bZ08eTLXcg4dOlSomi5VlP3n6+urgIAArVq1ymH4pZ/VrKysXIfEAgMDFRoaat8OealVq5bKlSt31eWHhoaqYcOG+vzzzx221cqVK7V582aHaXv06KGsrCyNGTMm1/rOnz/PncdLOHp2UCL89NNP2r59u86fP6+DBw9q2bJlio2NVa1atfT9999f8eZ1o0eP1qpVq9SlSxfVqlVLqampmj59umrUqGG/j0nt2rXl7+9vv+W+j4+PWrVqla/zJ/JSpUoV3XLLLerXr58OHjyoyZMn6/rrr3e4PH7gwIGaN2+eOnXqpB49emj37t368ssvc11K/sgjj+jzzz/X0KFDtWbNGrVt21anTp3S0qVL9dRTT6lr1675qql169aqXLmy+vTpo2eeeUY2m01ffPFFvgNT8+bNJUmvvPKKevbsKQ8PD919991X7Jno0qWLJk2apE6dOumf//ynUlNTNW3aNF1//fX6448/rri+u+66S6NHj1a/fv3UunVrbd68WbNnz3bo9SqqotR3qYCAAPu9b6Kjo/XLL7+oevXqeuutt9S5c2dFRUVpwIAB9kvP/fz8HO4XUxBF/Ux//PHH6ty5sxo0aKB+/fqpevXq2rdvn5YvXy5fX1/997//LVRdFyvq/hs4cKAmTJiggQMHqkWLFlq1apX+/PNPh2lOnDihGjVq6P7771eTJk1UsWJFLV26VGvXrtU777xz2WX7+fnpgQcesJ9jVbt2bS1cuDDP82rGjRunrl27qk2bNurXr5+OHj2q999/Xw0bNnQIQO3atdPjjz+u8ePHa9OmTbrjjjvk4eGhnTt3au7cuXrvvfeu+V3VUQCuuxAM+N/l0zmv8uXLm+DgYHP77beb9957z+Hy7hyXXqYbFxdnunbtakJDQ0358uVNaGioeeihh8yff/7pMN93331n6tevb9zd3R0uP7348uJLXe7S86+//toMHz7cBAYGGm9vb9OlSxfz999/55r/nXfeMdWrVzeenp6mTZs2Zt26dbmWacyFy4JfeeUVExERYTw8PExwcLC5//77ze7du+3TKB+Xnq9evdrcfPPNxtvb24SGhpoXXnjBLF68OM/LcPMyZswYU716dePm5uawbEmXvfz3k08+MXXq1DGenp6mXr16JiYmJtc+MibvS5f/9a9/mZCQEOPt7W3atGlj4uPjL7vN586d67C8vC4jzuvS8/zWl5e8Phu7du0yISEhJjIy0n5p+NKlS02bNm2Mt7e38fX1NXfffbfZtm2bw3w568zrcnJnf6aNMWbjxo2mW7dupmrVqsbT09PUqlXL9OjRw8TFxV21prw+W4Xdf5dz+vRpM2DAAOPn52cqVapkevToYVJTUx0+5xkZGWbYsGGmSZMmplKlSsbHx8c0adLETJ8+3WFZee33Q4cOme7du5sKFSqYypUrm8cff9xs2bIlz0ve58yZY+rVq2c8PT1Nw4YNzffff2+6d+9u6tWrl6vuDz/80DRv3tx4e3ubSpUqmUaNGpkXXnjB7N+//6pthuvwbCyglPrkk080cOBA7d27VzVq1HB1OVdVs2ZNdezYUR9//HGxrePhhx9WfHx8nudgoGiuxf4rSZo2bapq1aopNjbW1aXACThnByilDhw4IJvN5nB/l5IqMzNThw8fdtqJx5dz4MCBYl9HWXSt9p8rZGZm2h/7kWPFihX6/fff83xUDEonztkBSpmDBw9q3rx5mjlzpqKiolShQgVXl3RFixcv1pw5c3TmzBl16NChWNbxxx9/aMGCBVq1apX9GV9wjmux/1xp3759io6OVu/evRUaGqrt27dr5syZCg4OztcNIFE6EHaAUiYxMVHDhg3TTTfdpI8++sjV5VzVhAkTtGvXLo0dO1a33357sazj22+/1dSpU9WzZ08NHz68WNZRVl2L/edKlStXVvPmzfXxxx/r0KFD8vHxUZcuXTRhwgRVrVrV1eXBSThnBwAAWBrn7AAAAEsj7AAAAEvjnB1deObJ/v37ValSJac/VgAAABQPY4xOnDih0NBQubldvv+GsCNp//79qlmzpqvLAAAAhXC1+40RdiRVqlRJ0oWN5evr6+JqAABAfqSnp6tmzZr23/HLIezof0979vX1JewAAFDKXO0UFE5QBgAAlkbYAQAAlkbYAQAAlkbYAQAAlkbYAQAAlkbYAQAAlkbYAQAAlkbYAQAAlkbYAQAAlkbYAQAAlkbYAQAAlkbYAQAAlkbYAQAAlkbYAQAAlubu6gKsLjk5WWlpaYWaNyAgQGFhYU6uCACAsoWwU4ySk5NVr16kzpw5Xaj5vb0raPv2RAIPAABFQNgpRmlpaTpz5rRa9R8p35DwAs2bfmCPEj59XWlpaYQdAACKgLBzDfiGhKtKWF1XlwEAQJnECcoAAMDSCDsAAMDSCDsAAMDSCDsAAMDSCDsAAMDSCDsAAMDSCDsAAMDSCDsAAMDSCDsAAMDSCDsAAMDSCDsAAMDSCDsAAMDSCDsAAMDSCDsAAMDSCDsAAMDSCDsAAMDSCDsAAMDSCDsAAMDSXBp2srKyNGLECEVERMjb21u1a9fWmDFjZIyxT2OM0WuvvaaQkBB5e3srOjpaO3fudFjOkSNH1KtXL/n6+srf318DBgzQyZMnr3VzAABACeTSsPPmm29qxowZev/995WYmKg333xTEydO1NSpU+3TTJw4UVOmTNHMmTOVkJAgHx8fdezYUWfPnrVP06tXL23dulWxsbFauHChVq1apccee8wVTQIAACWMuytX/uuvv6pr167q0qWLJCk8PFxff/211qxZI+lCr87kyZP16quvqmvXrpKkzz//XEFBQVqwYIF69uypxMRELVq0SGvXrlWLFi0kSVOnTtWdd96pt99+W6Ghoa5pHAAAKBFc2rPTunVrxcXF6c8//5Qk/f777/rll1/UuXNnSVJSUpJSUlIUHR1tn8fPz0+tWrVSfHy8JCk+Pl7+/v72oCNJ0dHRcnNzU0JCQp7rzcjIUHp6usMLAABYk0t7dl566SWlp6erXr16KleunLKysjR27Fj16tVLkpSSkiJJCgoKcpgvKCjIPi4lJUWBgYEO493d3VWlShX7NJcaP368Xn/9dWc3BwAAlEAu7dn55ptvNHv2bH311VfasGGDPvvsM7399tv67LPPinW9w4cP1/Hjx+2vvXv3Fuv6AACA67i0Z2fYsGF66aWX1LNnT0lSo0aN9Pfff2v8+PHq06ePgoODJUkHDx5USEiIfb6DBw+qadOmkqTg4GClpqY6LPf8+fM6cuSIff5LeXp6ytPTsxhaBAAAShqX9uycPn1abm6OJZQrV07Z2dmSpIiICAUHBysuLs4+Pj09XQkJCYqKipIkRUVF6dixY1q/fr19mmXLlik7O1utWrW6Bq0AAAAlmUt7du6++26NHTtWYWFhatCggTZu3KhJkyapf//+kiSbzaYhQ4bojTfeUJ06dRQREaERI0YoNDRU9957ryQpMjJSnTp10qOPPqqZM2cqMzNTgwcPVs+ePbkSCwAAuDbsTJ06VSNGjNBTTz2l1NRUhYaG6vHHH9drr71mn+aFF17QqVOn9Nhjj+nYsWO65ZZbtGjRInl5edmnmT17tgYPHqwOHTrIzc1N3bt315QpU1zRJAAAUMLYzMW3Ky6j0tPT5efnp+PHj8vX19dpy92wYYOaN2+u21+JUZWwugWa90jyDsWO7af169frxhtvdFpNAABYRX5/v3k2F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TCDgAAsDR3VxcAAABKvuTkZKWlpRVq3oCAAIWFhTm5ovwj7AAAgCtKTk5WvXqROnPmdKHm9/auoO3bE10WeAg7AADgitLS0nTmzGm16j9SviHhBZo3/cAeJXz6utLS0gg7AACgZPMNCVeVsLquLqPAOEEZAABYGmEHAABYGmEHAABYGmEHAABYGmEHAABYGmEHAABYGmEHAABYGmEHAABYGmEHAABYGmEHAABYGmEHAABYGmEHAABYGmEHAABYGmEHAABYmsvDzr59+9S7d29VrVpV3t7eatSokdatW2cfb4zRa6+9ppCQEHl7eys6Olo7d+50WMaRI0fUq1cv+fr6yt/fXwMGDNDJkyevdVMAAEAJ5NKwc/ToUbVp00YeHh766aeftG3bNr3zzjuqXLmyfZqJEydqypQpmjlzphISEuTj46OOHTvq7Nmz9ml69eqlrVu3KjY2VgsXLtSqVav02GOPuaJJAACghHF35crffPNN1axZUzExMfZhERER9n8bYzR58mS9+uqr6tq1qyTp888/V1BQkBYsWKCePXsqMTFRixYt0tq1a9WiRQtJ0tSpU3XnnXfq7bffVmho6LVtFAAAKFFc2rPz/fffq0WLFnrggQcUGBioZs2a6aOPPrKPT0pKUkpKiqKjo+3D/Pz81KpVK8XHx0uS4uPj5e/vbw86khQdHS03NzclJCTkud6MjAylp6c7vAAAgDW5NOz89ddfmjFjhurUqaPFixfrySef1DPPPKPPPvtMkpSSkiJJCgoKcpgvKCjIPi4lJUWBgYEO493d3VWlShX7NJcaP368/Pz87K+aNWs6u2kAAKCEcGnYyc7O1o033qhx48apWbNmeuyxx/Too49q5syZxbre4cOH6/jx4/bX3r17i3V9AADAdVwadkJCQlS/fn2HYZGRkUpOTpYkBQcHS5IOHjzoMM3Bgwft44KDg5Wamuow/vz58zpy5Ih9mkt5enrK19fX4QUAAKzJpWGnTZs22rFjh8OwP//8U7Vq1ZJ04WTl4OBgxcXF2cenp6crISFBUVFRkqSoqCgdO3ZM69evt0+zbNkyZWdnq1WrVtegFQAAoCRz6dVYzz33nFq3bq1x48apR48eWrNmjT788EN9+OGHkiSbzaYhQ4bojTfeUJ06dRQREaERI0YoNDRU9957r6QLPUGdOnWyH/7KzMzU4MGD1bNnT67EAgAArg07LVu21Pz58zV8+HCNHj1aERERmjx5snr16mWf5oUXXtCpU6f02GOP6dixY7rlllu0aNEieXl52aeZPXu2Bg8erA4dOsjNzU3du3fXlClTXNEkAABQwrg07EjSXXfdpbvuuuuy4202m0aPHq3Ro0dfdpoqVaroq6++Ko7yAABAKefyx0UAAAAUJ8IOAACwNMIOAACwNMIOAACwNMIOAACwNMIOAACwNMIOAACwNMIOAACwNMIOAACwNMIOAACwNMIOAACwNMIOAACwNMIOAACwNMIOAACwNMIOAACwNMIOAACwNMIOAACwNMIOAACwNMIOAACwNMIOAACwNMIOAACwNMIOAACwNMIOAACwNMIOAACwNMIOAACwNMIOAACwNMIOAACwNMIOAACwNMIOAACwNMIOAACwNMIOAACwNMIOAACwNMIOAACwNMIOAACwNMIOAACwtEKFneuuu06HDx/ONfzYsWO67rrrilwUAACAsxQq7OzZs0dZWVm5hmdkZGjfvn1FLgoAAMBZ3Asy8ffff2//9+LFi+Xn52d/n5WVpbi4OIWHhzutOAAAgKIqUNi59957JUk2m019+vRxGOfh4aHw8HC98847TisOAACgqAoUdrKzsyVJERERWrt2rQICAoqlKAAAAGcpUNjJkZSU5Ow6AAAAikWhwo4kxcXFKS4uTqmpqfYenxyffvppkQsDAABwhkKFnddff12jR49WixYtFBISIpvN5uy6AAAAnKJQYWfmzJmaNWuWHn74YWfXAwAA4FSFus/OuXPn1Lp1a2fXAgAA4HSFCjsDBw7UV1995exaAAAAnK5Qh7HOnj2rDz/8UEuXLlXjxo3l4eHhMH7SpElOKQ4AAKCoChV2/vjjDzVt2lSStGXLFodxnKwMAABKkkKFneXLlzu7DgAAgGJRqHN2AAAASotC9ezcdtttVzxctWzZskIXBAAA4EyFCjs55+vkyMzM1KZNm7Rly5ZcDwgFAABwpUKFnXfffTfP4aNGjdLJkyeLVBAAAIAzOfWcnd69e/NcLAAAUKI4NezEx8fLy8vLmYsEAAAokkIdxurWrZvDe2OMDhw4oHXr1mnEiBFOKQwAAMAZChV2/Pz8HN67ubmpbt26Gj16tO644w6nFAYAAOAMhQo7MTExzq4DAACgWBQq7ORYv369EhMTJUkNGjRQs2bNnFIUAACAsxQq7KSmpqpnz55asWKF/P39JUnHjh3Tbbfdpjlz5qhatWrOrBEAAKDQCnU11tNPP60TJ05o69atOnLkiI4cOaItW7YoPT1dzzzzjLNrBAAAKLRC9ewsWrRIS5cuVWRkpH1Y/fr1NW3aNE5QBgAAJUqhenays7Pl4eGRa7iHh4eys7OLXBQAAICzFCrstG/fXs8++6z2799vH7Zv3z4999xz6tChg9OKAwAAKKpChZ33339f6enpCg8PV+3atVW7dm1FREQoPT1dU6dOdXaNAAAAhVaoc3Zq1qypDRs2aOnSpdq+fbskKTIyUtHR0U4tDgAAoKgK1LOzbNky1a9fX+np6bLZbLr99tv19NNP6+mnn1bLli3VoEED/fzzz8VVKwAAQIEVKOxMnjxZjz76qHx9fXON8/Pz0+OPP65JkyY5rTgAAICiKlDY+f3339WpU6fLjr/jjju0fv36IhcFAADgLAUKOwcPHszzkvMc7u7uOnToUJGLAgAAcJYChZ3q1atry5Ytlx3/xx9/KCQkpMhFAQAAOEuBws6dd96pESNG6OzZs7nGnTlzRiNHjtRdd91VqEImTJggm82mIUOG2IedPXtWgwYNUtWqVVWxYkV1795dBw8edJgvOTlZXbp0UYUKFRQYGKhhw4bp/PnzhaoBAABYT4EuPX/11Vf17bff6oYbbtDgwYNVt25dSdL27ds1bdo0ZWVl6ZVXXilwEWvXrtUHH3ygxo0bOwx/7rnn9MMPP2ju3Lny8/PT4MGD1a1bN61evVqSlJWVpS5duig4OFi//vqrDhw4oEceeUQeHh4aN25cgesAAADWU6CwExQUpF9//VVPPvmkhg8fLmOMJMlms6ljx46aNm2agoKCClTAyZMn1atXL3300Ud644037MOPHz+uTz75RF999ZXat28vSYqJiVFkZKR+++033XzzzVqyZIm2bdumpUuXKigoSE2bNtWYMWP04osvatSoUSpfvnye68zIyFBGRob9fXp6eoFqBgAApUeB76Bcq1Yt/fjjj0pLS1NCQoJ+++03paWl6ccff1RERESBCxg0aJC6dOmS64aE69evV2ZmpsPwevXqKSwsTPHx8ZKk+Ph4NWrUyCFgdezYUenp6dq6detl1zl+/Hj5+fnZXzVr1ixw3QAAoHQo1B2UJaly5cpq2bJlkVY+Z84cbdiwQWvXrs01LiUlReXLl5e/v7/D8KCgIKWkpNinubQnKed9zjR5GT58uIYOHWp/n56eTuABAMCiCh12imrv3r169tlnFRsbKy8vr2u6bk9PT3l6el7TdQIAANco1INAnWH9+vVKTU3VjTfeKHd3d7m7u2vlypWaMmWK3N3dFRQUpHPnzunYsWMO8x08eFDBwcGSpODg4FxXZ+W8z5kGAACUbS4LOx06dNDmzZu1adMm+6tFixbq1auX/d8eHh6Ki4uzz7Njxw4lJycrKipKkhQVFaXNmzcrNTXVPk1sbKx8fX1Vv379a94mAABQ8rjsMFalSpXUsGFDh2E+Pj6qWrWqffiAAQM0dOhQValSRb6+vnr66acVFRWlm2++WdKFx1PUr19fDz/8sCZOnKiUlBS9+uqrGjRoEIepAACAJBeGnfx499135ebmpu7duysjI0MdO3bU9OnT7ePLlSunhQsX6sknn1RUVJR8fHzUp08fjR492oVVAwCAkqREhZ0VK1Y4vPfy8tK0adM0bdq0y86Tcyk8AABAXlx2zg4AAMC1UKJ6dpBbYmJioeYLCAhQWFiYk6sBAKD0IeyUUGeOH5ZkU+/evQs1v6enl/7zn3mFego9QQkAYCWEnRIq8/QJSUZN//miqkXUK9C8h3b+rk3fvFfoJ9B7e1fQ9u2JBB4AgCUQdkq4ioFhqhJWt0DzpB/Yo8IGpfQDe5Tw6etKS0sj7AAALIGwY2GFCUoAAFgNV2MBAABLI+wAAABLI+wAAABLI+wAAABLI+wAAABLI+wAAABLI+wAAABLI+wAAABLI+wAAABLI+wAAABLI+wAAABLI+wAAABLI+wAAABLI+wAAABLI+wAAABLI+wAAABLI+wAAABLI+wAAABLI+wAAABLI+wAAABLI+wAAABLI+wAAABLI+wAAABLI+wAAABLI+wAAABLc3d1AUCO5ORkpaWlFWregIAAhYWFObkiAIAVEHZQIiQnJ6tevUidOXO6UPN7e1fQ9u2JBB4AQC6EHZQIaWlpOnPmtFr1HynfkPACzZt+YI8SPn1daWlphB0AQC6EHZQoviHhqhJW19VlAAAshBOUAQCApRF2AACApRF2AACApRF2AACApRF2AACApRF2AACApRF2AACApRF2AACApRF2AACApRF2AACApRF2AACApRF2AACApfEgUAAASpHk5GSlpaUVat6AgACFhYU5uaKSj7ADAEApkZycrHr1InXmzOlCze/tXUHbtyeWucBD2AEAoJRIS0vTmTOn1ar/SPmGhBdo3vQDe5Tw6etKS0sj7ABlDV3CAEob35BwVQmr6+oySg3CDso0uoQBwPoIOyjTSnOXMD1SAJA/hB1Apa9LmB4pAMg/wg5QCpXmHikAuNYIO0ApVtp6pADAFQg7yFNiYmKh5uNcEABASUPYgYMzxw9Lsql3796Fmp9zQQAAJQ1hBw4yT5+QZNT0ny+qWkS9As3LuSAAgJKIsIM8VQwM41wQAIAl8NRzAABgaYQdAABgaYQdAABgaYQdAABgaZygDABAIfB8utKDsAMAQAHxfLrShbADAEAB8Xy60oWwA6crzKMmCvt4CgBwJZ5PVzoQduA0RX3UhCRlZpxzXkEAAIiwAycqyqMmDmyO15bvP9T58+eLpzg4DSdlAihtXBp2xo8fr2+//Vbbt2+Xt7e3WrdurTfffFN16/6vS/Ds2bP617/+pTlz5igjI0MdO3bU9OnTFRQUZJ8mOTlZTz75pJYvX66KFSuqT58+Gj9+vNzdyXKuUJhHTaQf2FM8xcCpOCkTQGnk0jSwcuVKDRo0SC1bttT58+f18ssv64477tC2bdvk4+MjSXruuef0ww8/aO7cufLz89PgwYPVrVs3rV69WpKUlZWlLl26KDg4WL/++qsOHDigRx55RB4eHho3bpwrmwdYDidlAiiNXBp2Fi1a5PB+1qxZCgwM1Pr16/WPf/xDx48f1yeffKKvvvpK7du3lyTFxMQoMjJSv/32m26++WYtWbJE27Zt09KlSxUUFKSmTZtqzJgxevHFFzVq1CiVL1/eFU0DLI2TMuFsHB5FcSpRx3mOHz8uSapSpYokaf369crMzFR0dLR9mnr16iksLEzx8fG6+eabFR8fr0aNGjkc1urYsaOefPJJbd26Vc2aNcu1noyMDGVkZNjfp6enF1eTAJRh/IDnD4dHUdxKTNjJzs7WkCFD1KZNGzVs2FCSlJKSovLly8vf399h2qCgIKWkpNinuTjo5IzPGZeX8ePH6/XXX3dyCwDgf0rrD7grAhqHR1HcSkzYGTRokLZs2aJffvml2Nc1fPhwDR061P4+PT1dNWvWLPb1Aig7SuMPuKsDGodHr42yeC+0EhF2Bg8erIULF2rVqlWqUaOGfXhwcLDOnTunY8eOOfTuHDx4UMHBwfZp1qxZ47C8gwcP2sflxdPTU56enk5uBQDkVpp+wEtjQEP+leV7obk07Bhj9PTTT2v+/PlasWKFIiIiHMY3b95cHh4eiouLU/fu3SVJO3bsUHJysqKioiRJUVFRGjt2rFJTUxUYGChJio2Nla+vr+rXr39tGwQAFlCaAhryryzfC82lYWfQoEH66quv9N1336lSpUr2c2z8/Pzk7e0tPz8/DRgwQEOHDlWVKlXk6+urp59+WlFRUbr55pslSXfccYfq16+vhx9+WBMnTlRKSopeffVVDRo0iN4bAAAuURbvhebSsDNjxgxJ0q233uowPCYmRn379pUkvfvuu3Jzc1P37t0dbiqYo1y5clq4cKGefPJJRUVFycfHR3369NHo0aOvVTMAAEAJ5vLDWFfj5eWladOmadq0aZedplatWvrxxx+dWRoAALAIN1cXAAAAUJxKxNVYgDOUxcspAQBXR9hBqVdaL6csys3bCGkAkH+EHZR6pfFyyqLevC1Hab3nxbXGYxuAso2wA8soTZdTFuXmbVLpv+fFteTquwIDcD3CDuBChb15W2m/58W1xF2BARB2AJQJ3BUYKLu49BwAAFgaYQcAAFgaYQcAAFgaYQcAAFgaJygDKBUKe68cbsAIgLADoMRzxk0YuQEjShoecXPtEHYAlHhFuVcON2C8tvgBv7rS+oib0oywA6DUKMy9crgB47XBD3j+lcZH3JR2hB0AQJG5+ge8sL1Drnz2WWl6xE1pR9gBAItx5cnc1/oHvKg9Sjz7rGwg7ACAhZS1k7mL0qPEs8/KDsIOAFhIWT2ZuzA9Sig7CDtAEXH1ScGwva4NTuYG/oewAxQSV58UDNsLgKsQdoBCcvXVJ0V1rXtYSvv2AlB6EXaAIiptl4+6uoeltG0vWB+HVq2PsAOUMfSwABe4Ovjj2iHsAGUUPSwo6wj+ZQdhBwCugsMc1kbwtz7CDgBcBoc5AGsg7ADAZXCYA7AGwg4AXIWrDnNw+AxwDsIOAJQwHD4DnIuwAwAlDIfPAOci7ABACcVVQoBzuLm6AAAAgOJE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mmbAzbdo0hYeHy8vLS61atdKaNWtcXRIAACgBLBF2/v3vf2vo0KEaOXKkNmzYoCZNmqhjx45KTU11dWkAAMDFLBF2Jk2apEcffVT9+vVT/fr1NXPmTFWoUEGffvqpq0sDAAAu5u7qAorq3LlzWr9+vYYPH24f5ubmpujoaMXHx+c5T0ZGhjIyMuzvjx8/LklKT093am0nT56UJB35e4fOZ5wp0LzpB/6+UNu+nfJwtzEv85aIdTMv8zIv8xZ43pRkSRd+E539O5uzPGPMlSc0pdy+ffuMJPPrr786DB82bJi56aab8pxn5MiRRhIvXrx48eLFywKvvXv3XjErlPqencIYPny4hg4dan+fnZ2tI0eOqGrVqrLZCv5X9uWkp6erZs2a2rt3r3x9fZ223NKgrLa9rLZbou1lse1ltd0SbS8pbTfG6MSJEwoNDb3idKU+7AQEBKhcuXI6ePCgw/CDBw8qODg4z3k8PT3l6enpMMzf37+4SpSvr6/LPxCuUlbbXlbbLdH2stj2stpuibaXhLb7+flddZpSf4Jy+fLl1bx5c8XFxdmHZWdnKy4uTlFRUS6sDAAAlASlvmdHkoYOHao+ffqoRYsWuummmzR58mSdOnVK/fr1c3VpAADAxSwRdh588EEdOnRIr732mlJSUtS0aVMtWrRIQUFBLq3L09NTI0eOzHXIrCwoq20vq+2WaHtZbHtZbbdE20tb223GXO16LQAAgNKr1J+zAwAAcCWEHQAAYGmEHQAAYGmEHQAAYGmEnWI0bdo0hYeHy8vLS61atdKaNWtcXZLTrVq1SnfffbdCQ0Nls9m0YMECh/HGGL322msKCQmRt7e3oqOjtXPnTtcU60Tjx49Xy5YtValSJQUGBuree+/Vjh07HKY5e/asBg0apKpVq6pixYrq3r17rptfljYzZsxQ48aN7TcTi4qK0k8//WQfb8U2X86ECRNks9k0ZMgQ+zCrtn/UqFGy2WwOr3r16tnHW7XdkrRv3z717t1bVatWlbe3txo1aqR169bZx1v1Oy48PDzXPrfZbBo0aJCk0rfPCTvF5N///reGDh2qkSNHasOGDWrSpIk6duyo1NRUV5fmVKdOnVKTJk00bdq0PMdPnDhRU6ZM0cyZM5WQkCAfHx917NhRZ8+evcaVOtfKlSs1aNAg/fbbb4qNjVVmZqbuuOMOnTp1yj7Nc889p//+97+aO3euVq5cqf3796tbt24urLroatSooQkTJmj9+vVat26d2rdvr65du2rr1q2SrNnmvKxdu1YffPCBGjdu7DDcyu1v0KCBDhw4YH/98ssv9nFWbffRo0fVpk0beXh46KefftK2bdv0zjvvqHLlyvZprPodt3btWof9HRsbK0l64IEHJJXCfe6Mh3Eit5tuuskMGjTI/j4rK8uEhoaa8ePHu7Cq4iXJzJ8/3/4+OzvbBAcHm7feess+7NixY8bT09N8/fXXLqiw+KSmphpJZuXKlcaYC+308PAwc+fOtU+TmJhoJJn4+HhXlVksKleubD7++OMy0+YTJ06YOnXqmNjYWNOuXTvz7LPPGmOsvc9HjhxpmjRpkuc4K7f7xRdfNLfccstlx5el77hnn33W1K5d22RnZ5fKfU7PTjE4d+6c1q9fr+joaPswNzc3RUdHKz4+3oWVXVtJSUlKSUlx2A5+fn5q1aqV5bbD8ePHJUlVqlSRJK1fv16ZmZkOba9Xr57CwsIs0/asrCzNmTNHp06dUlRUVJlosyQNGjRIXbp0cWinZP19vnPnToWGhuq6665Tr169lJycLMna7f7+++/VokULPfDAAwoMDFSzZs300Ucf2ceXle+4c+fO6csvv1T//v1ls9lK5T4n7BSDtLQ0ZWVl5bqDc1BQkFJSUlxU1bWX01arb4fs7GwNGTJEbdq0UcOGDSVdaHv58uVzPWDWCm3fvHmzKlasKE9PTz3xxBOaP3++6tevb+k255gzZ442bNig8ePH5xpn5fa3atVKs2bN0qJFizRjxgwlJSWpbdu2OnHihKXb/ddff2nGjBmqU6eOFi9erCeffFLPPPOMPvvsM0ll5ztuwYIFOnbsmPr27SupdH7WLfG4CMCVBg0apC1btjicw2BldevW1aZNm3T8+HHNmzdPffr00cqVK11dVrHbu3evnn32WcXGxsrLy8vV5VxTnTt3tv+7cePGatWqlWrVqqVvvvlG3t7eLqyseGVnZ6tFixYaN26cJKlZs2basmWLZs6cqT59+ri4umvnk08+UefOnRUaGurqUgqNnp1iEBAQoHLlyuU6M/3gwYMKDg52UVXXXk5brbwdBg8erIULF2r58uWqUaOGfXhwcLDOnTunY8eOOUxvhbaXL19e119/vZo3b67x48erSZMmeu+99yzdZunC4ZrU1FTdeOONcnd3l7u7u1auXKkpU6bI3d1dQUFBlm7/xfz9/XXDDTdo165dlt7vISEhql+/vsOwyMhI+yG8svAd9/fff2vp0qUaOHCgfVhp3OeEnWJQvnx5NW/eXHFxcfZh2dnZiouLU1RUlAsru7YiIiIUHBzssB3S09OVkJBQ6reDMUaDBw/W/PnztWzZMkVERDiMb968uTw8PBzavmPHDiUnJ5f6tl8qOztbGRkZlm9zhw4dtHnzZm3atMn+atGihXr16mX/t5Xbf7GTJ09q9+7dCgkJsfR+b9OmTa5bSvz555+qVauWJGt/x+WIiYlRYGCgunTpYh9WKve5q8+Qtqo5c+YYT09PM2vWLLNt2zbz2GOPGX9/f5OSkuLq0pzqxIkTZuPGjWbjxo1Gkpk0aZLZuHGj+fvvv40xxkyYMMH4+/ub7777zvzxxx+ma9euJiIiwpw5c8bFlRfNk08+afz8/MyKFSvMgQMH7K/Tp0/bp3niiSdMWFiYWbZsmVm3bp2JiooyUVFRLqy66F566SWzcuVKk5SUZP744w/z0ksvGZvNZpYsWWKMsWabr+Tiq7GMsW77//Wvf5kVK1aYpKQks3r1ahMdHW0CAgJMamqqMca67V6zZo1xd3c3Y8eONTt37jSzZ882FSpUMF9++aV9Gqt+xxlz4SrisLAw8+KLL+YaV9r2OWGnGE2dOtWEhYWZ8uXLm5tuusn89ttvri7J6ZYvX24k5Xr16dPHGHPh0swRI0aYoKAg4+npaTp06GB27Njh2qKdIK82SzIxMTH2ac6cOWOeeuopU7lyZVOhQgVz3333mQMHDriuaCfo37+/qVWrlilfvrypVq2a6dChgz3oGGPNNl/JpWHHqu1/8MEHTUhIiClfvrypXr26efDBB82uXbvs463abmOM+e9//2saNmxoPD09Tb169cyHH37oMN6q33HGGLN48WIjKc/2lLZ9bjPGGJd0KQEAAFwDnLMDAAAsjbADAAAsjbADAAAsjbADAAAsjbADAAAsjbADAAAsjbADAAAsjbADAAAsjbADANfQqFGj1LRpU1eXAZQphB0AebLZbFd8jRo1ytUl5tuePXtks9lUrlw57du3z2HcgQMH5O7uLpvNpj179jh1vTabTQsWLHDqMgEUHGEHQJ4OHDhgf02ePFm+vr4Ow55//vlrXtO5c+eKNH/16tX1+eefOwz77LPPVL169SItF0DJRtgBkKfg4GD7y8/PTzabzWHYnDlzFBkZKS8vL9WrV0/Tp0+3z5vTk/Ltt9/qtttuU4UKFdSkSRPFx8fbp8nrcM7kyZMVHh5uf9+3b1/de++9Gjt2rEJDQ1W3bl1J0t69e9WjRw/5+/urSpUq6tq1a756Zfr06aOYmBiHYTExMerTp0+uaVeuXKmbbrpJnp6eCgkJ0UsvvaTz58/bx99666165pln9MILL6hKlSoKDg526O3Kacd9990nm83m0C5J+uKLLxQeHi4/Pz/17NlTJ06csI+bN2+eGjVqJG9vb1WtWlXR0dE6derUVdsHIG+EHQAFNnv2bL322msaO3asEhMTNW7cOI0YMUKfffaZw3SvvPKKnn/+eW3atEk33HCDHnroIYfAkB9xcXHasWOHYmNjtXDhQmVmZqpjx46qVKmSfv75Z61evVoVK1ZUp06drtrzc8899+jo0aP65ZdfJEm//PKLjh49qrvvvtthun379unOO+9Uy5Yt9fvvv2vGjBn65JNP9MYbbzhM99lnn8nHx0cJCQmaOHGiRo8erdjYWEnS2rVrJV0IUwcOHLC/l6Tdu3drwYIFWrhwoRYuXKiVK1dqwoQJki70qD300EPq37+/EhMTtWLFCnXr1k08sxkoAhc/dR1AKRATE2P8/Pzs72vXrm2++uorh2nGjBljoqKijDHGJCUlGUnm448/to/funWrkWQSExONMcaMHDnSNGnSxGEZ7777rqlVq5b9fZ8+fUxQUJDJyMiwD/viiy9M3bp1TXZ2tn1YRkaG8fb2NosXL86z/px6Nm7caIYMGWL69etnjDGmX79+5rnnnjMbN240kkxSUpIxxpiXX3451zqmTZtmKlasaLKysowxxrRr187ccsstDutp2bKlefHFF+3vJZn58+c7TDNy5EhToUIFk56ebh82bNgw06pVK2OMMevXrzeSzJ49e/JsC4CCo2cHQIGcOnVKu3fv1oABA1SxYkX764033tDu3bsdpm3cuLH93yEhIZKk1NTUAq2vUaNGKl++vP3977//rl27dqlSpUr2dVepUkVnz57Ntf689O/fX3PnzlVKSormzp2r/v3755omMTFRUVFRstls9mFt2rTRyZMn9X//9395ti+njflpX3h4uCpVqpTnfE2aNFGHDh3UqFEjPfDAA/roo4909OjRqy4TwOW5u7oAAKXLyZMnJUkfffSRWrVq5TCuXLlyDu89PDzs/84JDtnZ2ZIkNze3XIdmMjMzc63Px8cn1/qbN2+u2bNn55q2WrVqV62/UaNGqlevnh566CFFRkaqYcOG2rRp01Xny8vF7ZMutDGnfYWdr1y5coqNjdWvv/6qJUuWaOrUqXrllVeUkJCgiIiIQtUJlHX07AAokKCgIIWGhuqvv/7S9ddf7/AqyI9xtWrVlJKS4hB48hM6brzxRu3cuVOBgYG51u/n55evdffv318rVqzIs1dHkiIjIxUfH+9Q2+rVq1WpUiXVqFEjX+uQLoSarKysfE+fw2azqU2bNnr99de1ceNGlS9fXvPnzy/wcgBcQNgBUGCvv/66xo8frylTpujPP//U5s2bFRMTo0mTJuV7GbfeeqsOHTqkiRMnavfu3Zo2bZp++umnq87Xq1cvBQQEqGvXrvr555+VlJSkFStW6JlnnnE4xHQljz76qA4dOqSBAwfmOf6pp57S3r179fTTT2v79u367rvvNHLkSA0dOlRubvn/2gwPD1dcXJxSUlLyfSgqISFB48aN07p165ScnKxvv/1Whw4dUmRkZL7XC8ARYQdAgQ0cOFAff/yxYmJi1KhRI7Vr106zZs0qUM9OZGSkpk+frmnTpqlJkyZas2ZNvu7dU6FCBa1atUphYWHq1q2bIiMjNWDAAJ09e1a+vr75Wre7u7sCAgLk7p73kfzq1avrxx9/1Jo1a9SkSRM98cQTGjBggF599dV8t0+S3nnnHcXGxqpmzZpq1qxZvubx9fXVqlWrdOedd+qGG27Qq6++qnfeeUedO3cu0LoB/I/NXHrQHAAAwELo2QEAAJZG2AEAAJZG2AEAAJZG2AEAAJZG2AEAAJZG2AEAAJZG2AEAAJZG2AEAAJZG2AEAAJZG2AEAAJZG2AEAAJb2/2cOstBYXjYxAAAAAElFTkSuQmCC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09598" y="2088292"/>
            <a:ext cx="6347714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hr-HR" dirty="0" smtClean="0"/>
              <a:t>Uklanjanje data </a:t>
            </a:r>
            <a:r>
              <a:rPr lang="hr-HR" dirty="0" err="1" smtClean="0"/>
              <a:t>leakage</a:t>
            </a:r>
            <a:r>
              <a:rPr lang="hr-HR" dirty="0" smtClean="0"/>
              <a:t> stupaca</a:t>
            </a:r>
          </a:p>
          <a:p>
            <a:r>
              <a:rPr lang="hr-HR" dirty="0" smtClean="0"/>
              <a:t>Podjela na </a:t>
            </a:r>
            <a:r>
              <a:rPr lang="hr-HR" dirty="0" err="1" smtClean="0"/>
              <a:t>train</a:t>
            </a:r>
            <a:r>
              <a:rPr lang="hr-HR" dirty="0" smtClean="0"/>
              <a:t> i test skup</a:t>
            </a:r>
          </a:p>
          <a:p>
            <a:endParaRPr lang="hr-HR" dirty="0"/>
          </a:p>
          <a:p>
            <a:endParaRPr lang="hr-HR" dirty="0" smtClean="0"/>
          </a:p>
          <a:p>
            <a:endParaRPr lang="hr-HR" dirty="0" smtClean="0"/>
          </a:p>
          <a:p>
            <a:r>
              <a:rPr lang="hr-HR" dirty="0"/>
              <a:t>N</a:t>
            </a:r>
            <a:r>
              <a:rPr lang="hr-HR" dirty="0" smtClean="0"/>
              <a:t>umeričke</a:t>
            </a:r>
            <a:r>
              <a:rPr lang="hr-HR" dirty="0"/>
              <a:t>: imputacija (</a:t>
            </a:r>
            <a:r>
              <a:rPr lang="hr-HR" dirty="0" err="1"/>
              <a:t>median</a:t>
            </a:r>
            <a:r>
              <a:rPr lang="hr-HR" dirty="0"/>
              <a:t>) + </a:t>
            </a:r>
            <a:r>
              <a:rPr lang="hr-HR" dirty="0" smtClean="0"/>
              <a:t>standardizacija</a:t>
            </a:r>
          </a:p>
          <a:p>
            <a:r>
              <a:rPr lang="hr-HR" dirty="0" err="1"/>
              <a:t>K</a:t>
            </a:r>
            <a:r>
              <a:rPr lang="en-US" dirty="0" err="1" smtClean="0"/>
              <a:t>ategorijske</a:t>
            </a:r>
            <a:r>
              <a:rPr lang="en-US" dirty="0"/>
              <a:t>: </a:t>
            </a:r>
            <a:r>
              <a:rPr lang="en-US" dirty="0" err="1"/>
              <a:t>imputacija</a:t>
            </a:r>
            <a:r>
              <a:rPr lang="en-US" dirty="0"/>
              <a:t> (most frequent) + one-hot encoding.</a:t>
            </a:r>
            <a:endParaRPr lang="hr-HR" dirty="0"/>
          </a:p>
        </p:txBody>
      </p:sp>
      <p:pic>
        <p:nvPicPr>
          <p:cNvPr id="6" name="Slika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64" y="5492313"/>
            <a:ext cx="8498620" cy="953504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995" y="1779374"/>
            <a:ext cx="4347058" cy="164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204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 strojnog učenja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422" y="1218616"/>
            <a:ext cx="6347714" cy="4999304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Logistic </a:t>
            </a:r>
            <a:r>
              <a:rPr dirty="0" smtClean="0"/>
              <a:t>Regression</a:t>
            </a:r>
            <a:endParaRPr lang="hr-HR" dirty="0" smtClean="0"/>
          </a:p>
          <a:p>
            <a:endParaRPr lang="hr-HR" dirty="0"/>
          </a:p>
          <a:p>
            <a:endParaRPr lang="hr-HR" dirty="0" smtClean="0"/>
          </a:p>
          <a:p>
            <a:pPr marL="0" indent="0">
              <a:buNone/>
            </a:pPr>
            <a:endParaRPr dirty="0"/>
          </a:p>
          <a:p>
            <a:r>
              <a:rPr dirty="0"/>
              <a:t>Random </a:t>
            </a:r>
            <a:r>
              <a:rPr dirty="0" smtClean="0"/>
              <a:t>Forest</a:t>
            </a:r>
            <a:endParaRPr lang="hr-HR" dirty="0" smtClean="0"/>
          </a:p>
          <a:p>
            <a:endParaRPr lang="hr-HR" dirty="0"/>
          </a:p>
          <a:p>
            <a:endParaRPr lang="hr-HR" dirty="0" smtClean="0"/>
          </a:p>
          <a:p>
            <a:endParaRPr lang="hr-HR" dirty="0"/>
          </a:p>
          <a:p>
            <a:endParaRPr dirty="0"/>
          </a:p>
          <a:p>
            <a:r>
              <a:rPr lang="hr-HR" dirty="0" err="1" smtClean="0"/>
              <a:t>Class_weight</a:t>
            </a:r>
            <a:r>
              <a:rPr lang="hr-HR" dirty="0" smtClean="0"/>
              <a:t> = „</a:t>
            </a:r>
            <a:r>
              <a:rPr lang="hr-HR" dirty="0" err="1" smtClean="0"/>
              <a:t>balanced</a:t>
            </a:r>
            <a:r>
              <a:rPr lang="hr-HR" dirty="0" smtClean="0"/>
              <a:t>” </a:t>
            </a:r>
            <a:endParaRPr dirty="0"/>
          </a:p>
        </p:txBody>
      </p:sp>
      <p:pic>
        <p:nvPicPr>
          <p:cNvPr id="4" name="Slik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886" y="1396926"/>
            <a:ext cx="5525271" cy="1219370"/>
          </a:xfrm>
          <a:prstGeom prst="rect">
            <a:avLst/>
          </a:prstGeom>
        </p:spPr>
      </p:pic>
      <p:pic>
        <p:nvPicPr>
          <p:cNvPr id="5" name="Slik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611" y="2876333"/>
            <a:ext cx="3877216" cy="198147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03390"/>
            <a:ext cx="6347714" cy="388077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Random Forest </a:t>
            </a:r>
            <a:r>
              <a:rPr lang="hr-HR" dirty="0" smtClean="0"/>
              <a:t>ima veću točnost, ali logistička regresija veći </a:t>
            </a:r>
            <a:r>
              <a:rPr lang="hr-HR" dirty="0" err="1" smtClean="0"/>
              <a:t>recall</a:t>
            </a:r>
            <a:endParaRPr lang="hr-HR" dirty="0" smtClean="0"/>
          </a:p>
          <a:p>
            <a:r>
              <a:rPr dirty="0" err="1" smtClean="0"/>
              <a:t>Važne</a:t>
            </a:r>
            <a:r>
              <a:rPr dirty="0" smtClean="0"/>
              <a:t> </a:t>
            </a:r>
            <a:r>
              <a:rPr dirty="0" err="1"/>
              <a:t>varijable</a:t>
            </a:r>
            <a:r>
              <a:rPr dirty="0"/>
              <a:t>: </a:t>
            </a:r>
            <a:r>
              <a:rPr lang="hr-HR" dirty="0" smtClean="0"/>
              <a:t>Trajanje ugovora i mjesečni trošak</a:t>
            </a:r>
            <a:endParaRPr dirty="0"/>
          </a:p>
          <a:p>
            <a:r>
              <a:rPr dirty="0"/>
              <a:t>Model </a:t>
            </a:r>
            <a:r>
              <a:rPr dirty="0" err="1"/>
              <a:t>može</a:t>
            </a:r>
            <a:r>
              <a:rPr dirty="0"/>
              <a:t> </a:t>
            </a:r>
            <a:r>
              <a:rPr dirty="0" err="1"/>
              <a:t>predvidjeti</a:t>
            </a:r>
            <a:r>
              <a:rPr dirty="0"/>
              <a:t> churn s </a:t>
            </a:r>
            <a:r>
              <a:rPr dirty="0" err="1"/>
              <a:t>visokom</a:t>
            </a:r>
            <a:r>
              <a:rPr dirty="0"/>
              <a:t> </a:t>
            </a:r>
            <a:r>
              <a:rPr dirty="0" err="1"/>
              <a:t>točnošću</a:t>
            </a:r>
            <a:endParaRPr dirty="0"/>
          </a:p>
        </p:txBody>
      </p:sp>
      <p:pic>
        <p:nvPicPr>
          <p:cNvPr id="4" name="Slik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02" y="4379496"/>
            <a:ext cx="7407317" cy="104328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ROC-AUC analiza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03390"/>
            <a:ext cx="6347714" cy="388077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lang="hr-HR" dirty="0" smtClean="0"/>
              <a:t>ROC-AUC od ~0.85 pokazuje da model </a:t>
            </a:r>
            <a:r>
              <a:rPr lang="hr-HR" dirty="0"/>
              <a:t>dobro razlikuje korisnike koji će otići od onih koji neće</a:t>
            </a:r>
            <a:endParaRPr dirty="0"/>
          </a:p>
        </p:txBody>
      </p:sp>
      <p:pic>
        <p:nvPicPr>
          <p:cNvPr id="6" name="Slika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909" y="2923674"/>
            <a:ext cx="4486806" cy="3934326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3674"/>
            <a:ext cx="4577518" cy="393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885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46221"/>
          </a:xfrm>
        </p:spPr>
        <p:txBody>
          <a:bodyPr/>
          <a:lstStyle/>
          <a:p>
            <a:r>
              <a:rPr lang="hr-HR" dirty="0" smtClean="0"/>
              <a:t>Analiza matrice konfuzije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72849"/>
            <a:ext cx="6347714" cy="388077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lang="hr-HR" dirty="0" smtClean="0"/>
              <a:t> Propustiti </a:t>
            </a:r>
            <a:r>
              <a:rPr lang="hr-HR" dirty="0" err="1"/>
              <a:t>churn</a:t>
            </a:r>
            <a:r>
              <a:rPr lang="hr-HR" dirty="0"/>
              <a:t> korisnika je skuplje od lažno pozitivne </a:t>
            </a:r>
            <a:r>
              <a:rPr lang="hr-HR" dirty="0" smtClean="0"/>
              <a:t>predikcije</a:t>
            </a:r>
          </a:p>
          <a:p>
            <a:r>
              <a:rPr lang="hr-HR" dirty="0" err="1"/>
              <a:t>Logistic</a:t>
            </a:r>
            <a:r>
              <a:rPr lang="hr-HR" dirty="0"/>
              <a:t> </a:t>
            </a:r>
            <a:r>
              <a:rPr lang="hr-HR" dirty="0" err="1"/>
              <a:t>Regression</a:t>
            </a:r>
            <a:r>
              <a:rPr lang="hr-HR" dirty="0"/>
              <a:t> je prikladniji model za </a:t>
            </a:r>
            <a:r>
              <a:rPr lang="hr-HR" dirty="0" err="1"/>
              <a:t>churn</a:t>
            </a:r>
            <a:r>
              <a:rPr lang="hr-HR" dirty="0"/>
              <a:t> predikciju</a:t>
            </a:r>
            <a:endParaRPr dirty="0"/>
          </a:p>
        </p:txBody>
      </p:sp>
      <p:pic>
        <p:nvPicPr>
          <p:cNvPr id="8" name="Slika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3243716"/>
            <a:ext cx="4461832" cy="3644764"/>
          </a:xfrm>
          <a:prstGeom prst="rect">
            <a:avLst/>
          </a:prstGeom>
        </p:spPr>
      </p:pic>
      <p:pic>
        <p:nvPicPr>
          <p:cNvPr id="9" name="Slika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813" y="3163953"/>
            <a:ext cx="4567187" cy="36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36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hr-HR" dirty="0"/>
              <a:t>Najvažniji rezultat je da logistička regresija ima veći </a:t>
            </a:r>
            <a:r>
              <a:rPr lang="hr-HR" dirty="0" err="1"/>
              <a:t>recall</a:t>
            </a:r>
            <a:r>
              <a:rPr lang="hr-HR" dirty="0"/>
              <a:t> i bolje identificira </a:t>
            </a:r>
            <a:r>
              <a:rPr lang="hr-HR" dirty="0" err="1"/>
              <a:t>churn</a:t>
            </a:r>
            <a:r>
              <a:rPr lang="hr-HR" dirty="0"/>
              <a:t> korisnike, što je ključno za telekom kompanije jer je skuplje izgubiti korisnika nego ga </a:t>
            </a:r>
            <a:r>
              <a:rPr lang="hr-HR" dirty="0" smtClean="0"/>
              <a:t>zadržati</a:t>
            </a:r>
            <a:endParaRPr lang="hr-HR" dirty="0" smtClean="0"/>
          </a:p>
          <a:p>
            <a:r>
              <a:rPr dirty="0" err="1" smtClean="0"/>
              <a:t>Moguće</a:t>
            </a:r>
            <a:r>
              <a:rPr dirty="0" smtClean="0"/>
              <a:t> </a:t>
            </a:r>
            <a:r>
              <a:rPr dirty="0" err="1"/>
              <a:t>proširenje</a:t>
            </a:r>
            <a:r>
              <a:rPr dirty="0"/>
              <a:t> s </a:t>
            </a:r>
            <a:r>
              <a:rPr dirty="0" err="1"/>
              <a:t>naprednijim</a:t>
            </a:r>
            <a:r>
              <a:rPr dirty="0"/>
              <a:t> </a:t>
            </a:r>
            <a:r>
              <a:rPr dirty="0" err="1"/>
              <a:t>modelima</a:t>
            </a:r>
            <a:endParaRPr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Budući rad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SMOTE balansiranje podataka</a:t>
            </a:r>
          </a:p>
          <a:p>
            <a:r>
              <a:t>XGBoost i Neural Networks</a:t>
            </a:r>
          </a:p>
          <a:p>
            <a:r>
              <a:t>SHAP analiza za objašnjivost modela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1624264" y="3068053"/>
            <a:ext cx="6208294" cy="1997241"/>
          </a:xfrm>
        </p:spPr>
        <p:txBody>
          <a:bodyPr>
            <a:normAutofit/>
          </a:bodyPr>
          <a:lstStyle/>
          <a:p>
            <a:r>
              <a:rPr lang="hr-HR" sz="5400" dirty="0" smtClean="0"/>
              <a:t>HVALA NA PAŽNJI</a:t>
            </a:r>
            <a:endParaRPr lang="hr-HR" sz="5400" dirty="0"/>
          </a:p>
        </p:txBody>
      </p:sp>
    </p:spTree>
    <p:extLst>
      <p:ext uri="{BB962C8B-B14F-4D97-AF65-F5344CB8AC3E}">
        <p14:creationId xmlns:p14="http://schemas.microsoft.com/office/powerpoint/2010/main" val="36952829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seta">
  <a:themeElements>
    <a:clrScheme name="Plava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Faseta</Template>
  <TotalTime>3600</TotalTime>
  <Words>330</Words>
  <Application>Microsoft Office PowerPoint</Application>
  <PresentationFormat>Prikaz na zaslonu (4:3)</PresentationFormat>
  <Paragraphs>79</Paragraphs>
  <Slides>18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Faseta</vt:lpstr>
      <vt:lpstr>Predikcija Customer Churn-a</vt:lpstr>
      <vt:lpstr>Uvod u problem</vt:lpstr>
      <vt:lpstr>Dataset</vt:lpstr>
      <vt:lpstr>Čišćenje podataka</vt:lpstr>
      <vt:lpstr>Čišćenje podataka</vt:lpstr>
      <vt:lpstr>Čišćenje podataka</vt:lpstr>
      <vt:lpstr>Analiza podataka (EDA)</vt:lpstr>
      <vt:lpstr>Analiza podataka (EDA)</vt:lpstr>
      <vt:lpstr>Analiza podataka (EDA)</vt:lpstr>
      <vt:lpstr>Analiza podataka (EDA)</vt:lpstr>
      <vt:lpstr>Treniranje modela </vt:lpstr>
      <vt:lpstr>Modeli strojnog učenja</vt:lpstr>
      <vt:lpstr>Rezultati</vt:lpstr>
      <vt:lpstr>ROC-AUC analiza</vt:lpstr>
      <vt:lpstr>Analiza matrice konfuzije</vt:lpstr>
      <vt:lpstr>Zaključak</vt:lpstr>
      <vt:lpstr>Budući rad</vt:lpstr>
      <vt:lpstr>HVALA NA PAŽNJI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Predikcija Customer Churn-a</dc:title>
  <dc:subject/>
  <dc:creator/>
  <cp:keywords/>
  <dc:description>generated using python-pptx</dc:description>
  <cp:lastModifiedBy>andrija golemac</cp:lastModifiedBy>
  <cp:revision>30</cp:revision>
  <dcterms:created xsi:type="dcterms:W3CDTF">2013-01-27T09:14:16Z</dcterms:created>
  <dcterms:modified xsi:type="dcterms:W3CDTF">2026-01-28T23:01:16Z</dcterms:modified>
  <cp:category/>
</cp:coreProperties>
</file>