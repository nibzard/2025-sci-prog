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73" r:id="rId9"/>
    <p:sldId id="265" r:id="rId10"/>
    <p:sldId id="270" r:id="rId11"/>
    <p:sldId id="272" r:id="rId12"/>
    <p:sldId id="275" r:id="rId13"/>
    <p:sldId id="266" r:id="rId14"/>
    <p:sldId id="271" r:id="rId15"/>
    <p:sldId id="27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08CE8-E5E2-42AA-331E-036ACDF6654C}" v="18" dt="2026-01-29T13:07:38.397"/>
    <p1510:client id="{85565DA4-CB4A-09EC-D60C-CA3B56B21C8B}" v="3" dt="2026-01-29T14:58:32.577"/>
    <p1510:client id="{E48CB884-02AD-D511-E452-CDD70DD6BC10}" v="34" dt="2026-01-30T09:24:10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B9F4C-1712-4ED4-AAE9-880ACDF1C2C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79915A2-E338-4781-A43E-150794B8E1F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Klasifikacija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emocija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iz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slika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lica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je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primjer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problema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računalnog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vida</a:t>
          </a:r>
          <a:endParaRPr lang="en-US" sz="310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B9892EAD-1770-4EAF-8003-FCECFA221073}" type="parTrans" cxnId="{A5D559F6-BCB0-48BB-91FD-366A453BAA35}">
      <dgm:prSet/>
      <dgm:spPr/>
      <dgm:t>
        <a:bodyPr/>
        <a:lstStyle/>
        <a:p>
          <a:endParaRPr lang="en-US"/>
        </a:p>
      </dgm:t>
    </dgm:pt>
    <dgm:pt modelId="{0A29C53D-EDED-4253-85FE-CDF0403929DB}" type="sibTrans" cxnId="{A5D559F6-BCB0-48BB-91FD-366A453BAA35}">
      <dgm:prSet/>
      <dgm:spPr/>
      <dgm:t>
        <a:bodyPr/>
        <a:lstStyle/>
        <a:p>
          <a:endParaRPr lang="en-US"/>
        </a:p>
      </dgm:t>
    </dgm:pt>
    <dgm:pt modelId="{FA9B930E-36B4-4322-BA7A-57BA23F2B7B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Slike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su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male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rezolucije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(48x48) -&gt;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malo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informacija</a:t>
          </a:r>
          <a:endParaRPr lang="en-US" sz="3100">
            <a:solidFill>
              <a:srgbClr val="FFFFFF"/>
            </a:solidFill>
            <a:latin typeface="Arial"/>
            <a:ea typeface="+mn-ea"/>
            <a:cs typeface="+mn-cs"/>
          </a:endParaRPr>
        </a:p>
      </dgm:t>
    </dgm:pt>
    <dgm:pt modelId="{7D7A216F-806F-4E55-BC58-BB57D4B71C8D}" type="parTrans" cxnId="{9F5D1C2C-3755-4D8D-8951-414D6754862C}">
      <dgm:prSet/>
      <dgm:spPr/>
      <dgm:t>
        <a:bodyPr/>
        <a:lstStyle/>
        <a:p>
          <a:endParaRPr lang="en-US"/>
        </a:p>
      </dgm:t>
    </dgm:pt>
    <dgm:pt modelId="{C74C508E-E239-48FE-8314-C0F4A6C4B891}" type="sibTrans" cxnId="{9F5D1C2C-3755-4D8D-8951-414D6754862C}">
      <dgm:prSet/>
      <dgm:spPr/>
      <dgm:t>
        <a:bodyPr/>
        <a:lstStyle/>
        <a:p>
          <a:endParaRPr lang="en-US"/>
        </a:p>
      </dgm:t>
    </dgm:pt>
    <dgm:pt modelId="{F37BC35F-2CED-4D27-B683-A796102647C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Velika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sličnost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između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nekih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err="1">
              <a:solidFill>
                <a:srgbClr val="FFFFFF"/>
              </a:solidFill>
              <a:latin typeface="Arial"/>
              <a:ea typeface="+mn-ea"/>
              <a:cs typeface="+mn-cs"/>
            </a:rPr>
            <a:t>emocija</a:t>
          </a:r>
          <a:r>
            <a:rPr lang="en-US" sz="3100">
              <a:solidFill>
                <a:srgbClr val="FFFFFF"/>
              </a:solidFill>
              <a:latin typeface="Arial"/>
              <a:ea typeface="+mn-ea"/>
              <a:cs typeface="+mn-cs"/>
            </a:rPr>
            <a:t> (Fear vs Sad, Angry vs Disgust)</a:t>
          </a:r>
        </a:p>
      </dgm:t>
    </dgm:pt>
    <dgm:pt modelId="{E8740913-5361-4458-9341-0D3C18C84F32}" type="parTrans" cxnId="{9822D8B2-A3F8-4D93-AC37-6125A204B208}">
      <dgm:prSet/>
      <dgm:spPr/>
      <dgm:t>
        <a:bodyPr/>
        <a:lstStyle/>
        <a:p>
          <a:endParaRPr lang="en-US"/>
        </a:p>
      </dgm:t>
    </dgm:pt>
    <dgm:pt modelId="{3C1D9620-EF55-40A6-9CA0-CA60754269C3}" type="sibTrans" cxnId="{9822D8B2-A3F8-4D93-AC37-6125A204B208}">
      <dgm:prSet/>
      <dgm:spPr/>
      <dgm:t>
        <a:bodyPr/>
        <a:lstStyle/>
        <a:p>
          <a:endParaRPr lang="en-US"/>
        </a:p>
      </dgm:t>
    </dgm:pt>
    <dgm:pt modelId="{B4D51C6E-F25E-4CF3-83E4-2712597BED71}" type="pres">
      <dgm:prSet presAssocID="{002B9F4C-1712-4ED4-AAE9-880ACDF1C2CF}" presName="linear" presStyleCnt="0">
        <dgm:presLayoutVars>
          <dgm:animLvl val="lvl"/>
          <dgm:resizeHandles val="exact"/>
        </dgm:presLayoutVars>
      </dgm:prSet>
      <dgm:spPr/>
    </dgm:pt>
    <dgm:pt modelId="{2DE8EE2F-1EFD-409A-9E31-8FD949CF1D42}" type="pres">
      <dgm:prSet presAssocID="{879915A2-E338-4781-A43E-150794B8E1F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34C2C25-17AE-424D-9EFE-D5AEF1AC2120}" type="pres">
      <dgm:prSet presAssocID="{0A29C53D-EDED-4253-85FE-CDF0403929DB}" presName="spacer" presStyleCnt="0"/>
      <dgm:spPr/>
    </dgm:pt>
    <dgm:pt modelId="{0AF05B29-9A29-4F21-B918-A0195B3C2580}" type="pres">
      <dgm:prSet presAssocID="{FA9B930E-36B4-4322-BA7A-57BA23F2B7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D4FC95-2A3E-496C-8B48-BF9050E727E7}" type="pres">
      <dgm:prSet presAssocID="{C74C508E-E239-48FE-8314-C0F4A6C4B891}" presName="spacer" presStyleCnt="0"/>
      <dgm:spPr/>
    </dgm:pt>
    <dgm:pt modelId="{B533489F-09B9-4142-8D0F-7FF198C6F9D2}" type="pres">
      <dgm:prSet presAssocID="{F37BC35F-2CED-4D27-B683-A796102647C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F5D1C2C-3755-4D8D-8951-414D6754862C}" srcId="{002B9F4C-1712-4ED4-AAE9-880ACDF1C2CF}" destId="{FA9B930E-36B4-4322-BA7A-57BA23F2B7B2}" srcOrd="1" destOrd="0" parTransId="{7D7A216F-806F-4E55-BC58-BB57D4B71C8D}" sibTransId="{C74C508E-E239-48FE-8314-C0F4A6C4B891}"/>
    <dgm:cxn modelId="{C4457637-C745-4BD6-9DB0-A6757741FF0E}" type="presOf" srcId="{FA9B930E-36B4-4322-BA7A-57BA23F2B7B2}" destId="{0AF05B29-9A29-4F21-B918-A0195B3C2580}" srcOrd="0" destOrd="0" presId="urn:microsoft.com/office/officeart/2005/8/layout/vList2"/>
    <dgm:cxn modelId="{A7472444-A505-40C6-8D6C-79AB9C883EBB}" type="presOf" srcId="{F37BC35F-2CED-4D27-B683-A796102647C2}" destId="{B533489F-09B9-4142-8D0F-7FF198C6F9D2}" srcOrd="0" destOrd="0" presId="urn:microsoft.com/office/officeart/2005/8/layout/vList2"/>
    <dgm:cxn modelId="{8A83F24B-B868-4B7A-8ECD-085CD2F9E867}" type="presOf" srcId="{002B9F4C-1712-4ED4-AAE9-880ACDF1C2CF}" destId="{B4D51C6E-F25E-4CF3-83E4-2712597BED71}" srcOrd="0" destOrd="0" presId="urn:microsoft.com/office/officeart/2005/8/layout/vList2"/>
    <dgm:cxn modelId="{42E0F16C-09BD-491D-BCFC-681CEEC5A1FF}" type="presOf" srcId="{879915A2-E338-4781-A43E-150794B8E1FE}" destId="{2DE8EE2F-1EFD-409A-9E31-8FD949CF1D42}" srcOrd="0" destOrd="0" presId="urn:microsoft.com/office/officeart/2005/8/layout/vList2"/>
    <dgm:cxn modelId="{9822D8B2-A3F8-4D93-AC37-6125A204B208}" srcId="{002B9F4C-1712-4ED4-AAE9-880ACDF1C2CF}" destId="{F37BC35F-2CED-4D27-B683-A796102647C2}" srcOrd="2" destOrd="0" parTransId="{E8740913-5361-4458-9341-0D3C18C84F32}" sibTransId="{3C1D9620-EF55-40A6-9CA0-CA60754269C3}"/>
    <dgm:cxn modelId="{A5D559F6-BCB0-48BB-91FD-366A453BAA35}" srcId="{002B9F4C-1712-4ED4-AAE9-880ACDF1C2CF}" destId="{879915A2-E338-4781-A43E-150794B8E1FE}" srcOrd="0" destOrd="0" parTransId="{B9892EAD-1770-4EAF-8003-FCECFA221073}" sibTransId="{0A29C53D-EDED-4253-85FE-CDF0403929DB}"/>
    <dgm:cxn modelId="{33A69205-EE7A-41EC-8462-1DDBB56CDE16}" type="presParOf" srcId="{B4D51C6E-F25E-4CF3-83E4-2712597BED71}" destId="{2DE8EE2F-1EFD-409A-9E31-8FD949CF1D42}" srcOrd="0" destOrd="0" presId="urn:microsoft.com/office/officeart/2005/8/layout/vList2"/>
    <dgm:cxn modelId="{35D325A1-E733-4448-A8BC-0B80501B406B}" type="presParOf" srcId="{B4D51C6E-F25E-4CF3-83E4-2712597BED71}" destId="{534C2C25-17AE-424D-9EFE-D5AEF1AC2120}" srcOrd="1" destOrd="0" presId="urn:microsoft.com/office/officeart/2005/8/layout/vList2"/>
    <dgm:cxn modelId="{CE5D19AF-A1DD-458A-9229-E51B5D0EDD95}" type="presParOf" srcId="{B4D51C6E-F25E-4CF3-83E4-2712597BED71}" destId="{0AF05B29-9A29-4F21-B918-A0195B3C2580}" srcOrd="2" destOrd="0" presId="urn:microsoft.com/office/officeart/2005/8/layout/vList2"/>
    <dgm:cxn modelId="{1D9A9BC6-2424-49A1-980E-652AC02AC032}" type="presParOf" srcId="{B4D51C6E-F25E-4CF3-83E4-2712597BED71}" destId="{B6D4FC95-2A3E-496C-8B48-BF9050E727E7}" srcOrd="3" destOrd="0" presId="urn:microsoft.com/office/officeart/2005/8/layout/vList2"/>
    <dgm:cxn modelId="{9CA301EF-264A-480F-8EE6-34C4D9F11ABA}" type="presParOf" srcId="{B4D51C6E-F25E-4CF3-83E4-2712597BED71}" destId="{B533489F-09B9-4142-8D0F-7FF198C6F9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8EE2F-1EFD-409A-9E31-8FD949CF1D42}">
      <dsp:nvSpPr>
        <dsp:cNvPr id="0" name=""/>
        <dsp:cNvSpPr/>
      </dsp:nvSpPr>
      <dsp:spPr>
        <a:xfrm>
          <a:off x="0" y="189454"/>
          <a:ext cx="5000124" cy="16321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Klasifikacija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emocija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iz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slika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lica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je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primjer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problema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računalnog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vida</a:t>
          </a:r>
          <a:endParaRPr lang="en-US" sz="3100" kern="120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79675" y="269129"/>
        <a:ext cx="4840774" cy="1472800"/>
      </dsp:txXfrm>
    </dsp:sp>
    <dsp:sp modelId="{0AF05B29-9A29-4F21-B918-A0195B3C2580}">
      <dsp:nvSpPr>
        <dsp:cNvPr id="0" name=""/>
        <dsp:cNvSpPr/>
      </dsp:nvSpPr>
      <dsp:spPr>
        <a:xfrm>
          <a:off x="0" y="1910884"/>
          <a:ext cx="5000124" cy="163215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Slike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su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male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rezolucije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(48x48) -&gt;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malo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informacija</a:t>
          </a:r>
          <a:endParaRPr lang="en-US" sz="3100" kern="1200">
            <a:solidFill>
              <a:srgbClr val="FFFFFF"/>
            </a:solidFill>
            <a:latin typeface="Arial"/>
            <a:ea typeface="+mn-ea"/>
            <a:cs typeface="+mn-cs"/>
          </a:endParaRPr>
        </a:p>
      </dsp:txBody>
      <dsp:txXfrm>
        <a:off x="79675" y="1990559"/>
        <a:ext cx="4840774" cy="1472800"/>
      </dsp:txXfrm>
    </dsp:sp>
    <dsp:sp modelId="{B533489F-09B9-4142-8D0F-7FF198C6F9D2}">
      <dsp:nvSpPr>
        <dsp:cNvPr id="0" name=""/>
        <dsp:cNvSpPr/>
      </dsp:nvSpPr>
      <dsp:spPr>
        <a:xfrm>
          <a:off x="0" y="3632315"/>
          <a:ext cx="5000124" cy="163215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Velika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sličnost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između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nekih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</a:t>
          </a:r>
          <a:r>
            <a:rPr lang="en-US" sz="3100" kern="1200" err="1">
              <a:solidFill>
                <a:srgbClr val="FFFFFF"/>
              </a:solidFill>
              <a:latin typeface="Arial"/>
              <a:ea typeface="+mn-ea"/>
              <a:cs typeface="+mn-cs"/>
            </a:rPr>
            <a:t>emocija</a:t>
          </a:r>
          <a:r>
            <a:rPr lang="en-US" sz="3100" kern="1200">
              <a:solidFill>
                <a:srgbClr val="FFFFFF"/>
              </a:solidFill>
              <a:latin typeface="Arial"/>
              <a:ea typeface="+mn-ea"/>
              <a:cs typeface="+mn-cs"/>
            </a:rPr>
            <a:t> (Fear vs Sad, Angry vs Disgust)</a:t>
          </a:r>
        </a:p>
      </dsp:txBody>
      <dsp:txXfrm>
        <a:off x="79675" y="3711990"/>
        <a:ext cx="4840774" cy="1472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866194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 dirty="0" err="1">
                <a:solidFill>
                  <a:schemeClr val="tx2"/>
                </a:solidFill>
              </a:rPr>
              <a:t>Izgradnja</a:t>
            </a:r>
            <a:r>
              <a:rPr lang="en-US" sz="3100" dirty="0">
                <a:solidFill>
                  <a:schemeClr val="tx2"/>
                </a:solidFill>
              </a:rPr>
              <a:t> pipeline-a za </a:t>
            </a:r>
            <a:r>
              <a:rPr lang="en-US" sz="3100" dirty="0" err="1">
                <a:solidFill>
                  <a:schemeClr val="tx2"/>
                </a:solidFill>
              </a:rPr>
              <a:t>klasifikaciju</a:t>
            </a:r>
            <a:r>
              <a:rPr lang="en-US" sz="3100" dirty="0">
                <a:solidFill>
                  <a:schemeClr val="tx2"/>
                </a:solidFill>
              </a:rPr>
              <a:t> </a:t>
            </a:r>
            <a:r>
              <a:rPr lang="en-US" sz="3100" dirty="0" err="1">
                <a:solidFill>
                  <a:schemeClr val="tx2"/>
                </a:solidFill>
              </a:rPr>
              <a:t>emocija</a:t>
            </a:r>
            <a:r>
              <a:rPr lang="en-US" sz="3100" dirty="0">
                <a:solidFill>
                  <a:schemeClr val="tx2"/>
                </a:solidFill>
              </a:rPr>
              <a:t> </a:t>
            </a:r>
            <a:r>
              <a:rPr lang="en-US" sz="3100" dirty="0" err="1">
                <a:solidFill>
                  <a:schemeClr val="tx2"/>
                </a:solidFill>
              </a:rPr>
              <a:t>iz</a:t>
            </a:r>
            <a:r>
              <a:rPr lang="en-US" sz="3100" dirty="0">
                <a:solidFill>
                  <a:schemeClr val="tx2"/>
                </a:solidFill>
              </a:rPr>
              <a:t> </a:t>
            </a:r>
            <a:r>
              <a:rPr lang="en-US" sz="3100" dirty="0" err="1">
                <a:solidFill>
                  <a:schemeClr val="tx2"/>
                </a:solidFill>
              </a:rPr>
              <a:t>slika</a:t>
            </a:r>
            <a:endParaRPr lang="en-US" sz="3100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3781709"/>
            <a:ext cx="7375161" cy="900058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Projekt iz Znanstvenog programiranja</a:t>
            </a:r>
          </a:p>
          <a:p>
            <a:r>
              <a:rPr lang="en-US" sz="1600">
                <a:solidFill>
                  <a:schemeClr val="tx2"/>
                </a:solidFill>
              </a:rPr>
              <a:t>FER2013 Facial Emotion Recognition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47254A3-4C64-A2A8-8C06-94669369FE13}"/>
              </a:ext>
            </a:extLst>
          </p:cNvPr>
          <p:cNvSpPr txBox="1"/>
          <p:nvPr/>
        </p:nvSpPr>
        <p:spPr>
          <a:xfrm>
            <a:off x="5876106" y="6041565"/>
            <a:ext cx="28324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Napravio</a:t>
            </a:r>
            <a:r>
              <a:rPr lang="en-US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: Srđan </a:t>
            </a:r>
            <a:r>
              <a:rPr lang="en-US" err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Machiedo</a:t>
            </a:r>
            <a:endParaRPr lang="en-US" err="1">
              <a:solidFill>
                <a:schemeClr val="accent1">
                  <a:lumMod val="76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Zašto je FER2013 tehnički izazovan?</a:t>
            </a:r>
          </a:p>
        </p:txBody>
      </p:sp>
      <p:graphicFrame>
        <p:nvGraphicFramePr>
          <p:cNvPr id="66" name="Content Placeholder 2">
            <a:extLst>
              <a:ext uri="{FF2B5EF4-FFF2-40B4-BE49-F238E27FC236}">
                <a16:creationId xmlns:a16="http://schemas.microsoft.com/office/drawing/2014/main" id="{69684749-6CEA-7C2F-9056-BC431CC91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98826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Ulazni podaci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Dataset: FER2013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/>
              <a:t>48×48 grayscale </a:t>
            </a:r>
            <a:r>
              <a:rPr lang="en-US" sz="2800" err="1"/>
              <a:t>slike</a:t>
            </a:r>
            <a:endParaRPr lang="en-US" sz="2800" err="1">
              <a:ea typeface="Calibri"/>
              <a:cs typeface="Calibri"/>
            </a:endParaRPr>
          </a:p>
          <a:p>
            <a:r>
              <a:rPr lang="en-US" sz="2800"/>
              <a:t>7 </a:t>
            </a:r>
            <a:r>
              <a:rPr lang="en-US" sz="2800" err="1"/>
              <a:t>emocija</a:t>
            </a:r>
            <a:endParaRPr lang="en-US" sz="2800" err="1">
              <a:ea typeface="Calibri"/>
              <a:cs typeface="Calibri"/>
            </a:endParaRPr>
          </a:p>
          <a:p>
            <a:r>
              <a:rPr lang="en-US" sz="2800" err="1"/>
              <a:t>Pikseli</a:t>
            </a:r>
            <a:r>
              <a:rPr lang="en-US" sz="2800"/>
              <a:t> </a:t>
            </a:r>
            <a:r>
              <a:rPr lang="en-US" sz="2800" err="1"/>
              <a:t>spremljeni</a:t>
            </a:r>
            <a:r>
              <a:rPr lang="en-US" sz="2800"/>
              <a:t> </a:t>
            </a:r>
            <a:r>
              <a:rPr lang="en-US" sz="2800" err="1"/>
              <a:t>kao</a:t>
            </a:r>
            <a:r>
              <a:rPr lang="en-US" sz="2800"/>
              <a:t> string u CSV-u</a:t>
            </a:r>
            <a:endParaRPr lang="en-US"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Pipeline rješenja</a:t>
            </a:r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716355"/>
            <a:ext cx="7880472" cy="36723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Učitavanje</a:t>
            </a:r>
            <a:r>
              <a:rPr lang="en-US"/>
              <a:t> → </a:t>
            </a:r>
            <a:r>
              <a:rPr lang="en-US" err="1"/>
              <a:t>Čišćenje</a:t>
            </a:r>
            <a:r>
              <a:rPr lang="en-US"/>
              <a:t> → </a:t>
            </a:r>
            <a:r>
              <a:rPr lang="en-US" err="1"/>
              <a:t>Obrada</a:t>
            </a:r>
            <a:r>
              <a:rPr lang="en-US"/>
              <a:t> → Split → </a:t>
            </a:r>
            <a:r>
              <a:rPr lang="en-US" err="1"/>
              <a:t>Augmentacija</a:t>
            </a:r>
            <a:r>
              <a:rPr lang="en-US"/>
              <a:t> → </a:t>
            </a:r>
            <a:r>
              <a:rPr lang="en-US" err="1"/>
              <a:t>Treniranje</a:t>
            </a:r>
            <a:r>
              <a:rPr lang="en-US"/>
              <a:t> → </a:t>
            </a:r>
            <a:r>
              <a:rPr lang="en-US" err="1"/>
              <a:t>Evaluacija</a:t>
            </a:r>
            <a:endParaRPr lang="en-US" err="1">
              <a:ea typeface="Calibri"/>
              <a:cs typeface="Calibri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4027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84" y="859536"/>
            <a:ext cx="3624602" cy="1170432"/>
          </a:xfrm>
        </p:spPr>
        <p:txBody>
          <a:bodyPr anchor="b">
            <a:normAutofit/>
          </a:bodyPr>
          <a:lstStyle/>
          <a:p>
            <a:r>
              <a:rPr lang="en-US" sz="3000" err="1"/>
              <a:t>Obrada</a:t>
            </a:r>
            <a:r>
              <a:rPr lang="en-US" sz="3000"/>
              <a:t> </a:t>
            </a:r>
            <a:r>
              <a:rPr lang="en-US" sz="3000" err="1"/>
              <a:t>podataka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8283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19" y="2185062"/>
            <a:ext cx="37033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2512611"/>
            <a:ext cx="3624602" cy="36643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 err="1">
                <a:ea typeface="Calibri"/>
                <a:cs typeface="Calibri"/>
              </a:rPr>
              <a:t>Uklonjeno</a:t>
            </a:r>
            <a:r>
              <a:rPr lang="en-US" sz="1600" dirty="0">
                <a:ea typeface="Calibri"/>
                <a:cs typeface="Calibri"/>
              </a:rPr>
              <a:t> 1236 </a:t>
            </a:r>
            <a:r>
              <a:rPr lang="en-US" sz="1600" dirty="0" err="1">
                <a:ea typeface="Calibri"/>
                <a:cs typeface="Calibri"/>
              </a:rPr>
              <a:t>duplikata</a:t>
            </a:r>
          </a:p>
          <a:p>
            <a:r>
              <a:rPr lang="en-US" sz="1600" dirty="0"/>
              <a:t>Reshape (48,48,1)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dirty="0" err="1">
                <a:ea typeface="Calibri"/>
                <a:cs typeface="Calibri"/>
              </a:rPr>
              <a:t>Normalizacija</a:t>
            </a:r>
            <a:r>
              <a:rPr lang="en-US" sz="1600" dirty="0">
                <a:ea typeface="Calibri"/>
                <a:cs typeface="Calibri"/>
              </a:rPr>
              <a:t> [0–1]</a:t>
            </a:r>
          </a:p>
          <a:p>
            <a:r>
              <a:rPr lang="en-US" sz="1600" dirty="0">
                <a:ea typeface="Calibri"/>
                <a:cs typeface="Calibri"/>
              </a:rPr>
              <a:t>One-hot </a:t>
            </a:r>
            <a:r>
              <a:rPr lang="en-US" sz="1600" dirty="0" err="1">
                <a:ea typeface="Calibri"/>
                <a:cs typeface="Calibri"/>
              </a:rPr>
              <a:t>kodiranje</a:t>
            </a:r>
            <a:endParaRPr lang="en-US" sz="1600"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FC3A54C-BCF3-F995-BB70-D23BBCE6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831" y="675107"/>
            <a:ext cx="4177816" cy="2545239"/>
          </a:xfrm>
          <a:prstGeom prst="rect">
            <a:avLst/>
          </a:prstGeom>
        </p:spPr>
      </p:pic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0EB77DD-4A2F-9790-E8F8-46397350B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78" y="3735594"/>
            <a:ext cx="5313930" cy="2552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4700"/>
              <a:t>Model (CNN)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err="1"/>
              <a:t>Konvolucijski</a:t>
            </a:r>
            <a:r>
              <a:rPr lang="en-US" sz="1900"/>
              <a:t> </a:t>
            </a:r>
            <a:r>
              <a:rPr lang="en-US" sz="1900" err="1"/>
              <a:t>slojevi</a:t>
            </a:r>
            <a:endParaRPr lang="en-US" sz="1900" err="1">
              <a:ea typeface="Calibri"/>
              <a:cs typeface="Calibri"/>
            </a:endParaRPr>
          </a:p>
          <a:p>
            <a:r>
              <a:rPr lang="en-US" sz="1900"/>
              <a:t>Batch Normalization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Dropout</a:t>
            </a:r>
          </a:p>
          <a:p>
            <a:r>
              <a:rPr lang="en-US" sz="1900" err="1"/>
              <a:t>Softmax</a:t>
            </a:r>
            <a:r>
              <a:rPr lang="en-US" sz="1900"/>
              <a:t> </a:t>
            </a:r>
            <a:r>
              <a:rPr lang="en-US" sz="1900" err="1"/>
              <a:t>klasifikacija</a:t>
            </a:r>
            <a:endParaRPr lang="en-US" sz="1900">
              <a:ea typeface="Calibri"/>
              <a:cs typeface="Calibri"/>
            </a:endParaRPr>
          </a:p>
          <a:p>
            <a:endParaRPr lang="en-US" sz="1900"/>
          </a:p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5040180A-D5FA-66E2-F355-2692B1301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344940"/>
            <a:ext cx="5177790" cy="4168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Data Augmentation</a:t>
            </a:r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757685"/>
            <a:ext cx="5170932" cy="120827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 sz="1900"/>
              <a:t>Rotacija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Pomaci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Zoom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/>
              <a:t>Flip</a:t>
            </a:r>
            <a:endParaRPr lang="en-US" sz="1900">
              <a:ea typeface="Calibri"/>
              <a:cs typeface="Calibri"/>
            </a:endParaRPr>
          </a:p>
          <a:p>
            <a:endParaRPr lang="en-US" sz="190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8F51BC-C03A-48B9-B682-0A63EC778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3032110"/>
            <a:ext cx="8188452" cy="2477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C24A-0217-77E7-56DF-E1C5EDC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Treniranje modela</a:t>
            </a:r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15A6E7-B761-8D54-F3B0-CBF59AEA3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29545"/>
            <a:ext cx="8229600" cy="246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1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4700"/>
              <a:t>Rezultati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/>
              <a:t>Accuracy ≈ 60%</a:t>
            </a:r>
          </a:p>
          <a:p>
            <a:r>
              <a:rPr lang="en-US" sz="1900"/>
              <a:t>ROC AUC ≈ 0.88</a:t>
            </a:r>
            <a:endParaRPr lang="en-US" sz="1900">
              <a:ea typeface="Calibri"/>
              <a:cs typeface="Calibri"/>
            </a:endParaRPr>
          </a:p>
          <a:p>
            <a:r>
              <a:rPr lang="en-US" sz="1900" err="1"/>
              <a:t>Miješanje</a:t>
            </a:r>
            <a:r>
              <a:rPr lang="en-US" sz="1900"/>
              <a:t> </a:t>
            </a:r>
            <a:r>
              <a:rPr lang="en-US" sz="1900" err="1"/>
              <a:t>sličnih</a:t>
            </a:r>
            <a:r>
              <a:rPr lang="en-US" sz="1900"/>
              <a:t> </a:t>
            </a:r>
            <a:r>
              <a:rPr lang="en-US" sz="1900" err="1"/>
              <a:t>emocija</a:t>
            </a:r>
            <a:endParaRPr lang="en-US" sz="1900" err="1">
              <a:ea typeface="Calibri"/>
              <a:cs typeface="Calibri"/>
            </a:endParaRPr>
          </a:p>
          <a:p>
            <a:endParaRPr lang="en-US" sz="1900"/>
          </a:p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9EAEB-187A-E97D-67D3-6FF353F7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273745"/>
            <a:ext cx="5177790" cy="4310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B07C3-E6BD-DE98-372A-FB261328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 descr="A collage of a child&amp;#39;s face&#10;&#10;AI-generated content may be incorrect.">
            <a:extLst>
              <a:ext uri="{FF2B5EF4-FFF2-40B4-BE49-F238E27FC236}">
                <a16:creationId xmlns:a16="http://schemas.microsoft.com/office/drawing/2014/main" id="{F9A8C2E1-8C58-1CA1-0CFD-B2E3899494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767" y="1600200"/>
            <a:ext cx="768646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1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1096-74C0-4FFF-0FC9-3A67FCF1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collage of a group of people&#10;&#10;AI-generated content may be incorrect.">
            <a:extLst>
              <a:ext uri="{FF2B5EF4-FFF2-40B4-BE49-F238E27FC236}">
                <a16:creationId xmlns:a16="http://schemas.microsoft.com/office/drawing/2014/main" id="{CFE968F3-F7E0-CC02-8073-FCF3F7BF0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767" y="1600200"/>
            <a:ext cx="768646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5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D3D8-1B2C-EDAB-6525-62461DD9B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collage of a group of people&#10;&#10;AI-generated content may be incorrect.">
            <a:extLst>
              <a:ext uri="{FF2B5EF4-FFF2-40B4-BE49-F238E27FC236}">
                <a16:creationId xmlns:a16="http://schemas.microsoft.com/office/drawing/2014/main" id="{5C9175F6-6BD8-EAEE-5ECE-1A219F7F7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767" y="1600200"/>
            <a:ext cx="768646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4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Evaluacija modela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sX0" fmla="*/ 0 w 3182691"/>
              <a:gd name="csY0" fmla="*/ 0 h 18288"/>
              <a:gd name="csX1" fmla="*/ 636538 w 3182691"/>
              <a:gd name="csY1" fmla="*/ 0 h 18288"/>
              <a:gd name="csX2" fmla="*/ 1273076 w 3182691"/>
              <a:gd name="csY2" fmla="*/ 0 h 18288"/>
              <a:gd name="csX3" fmla="*/ 1909615 w 3182691"/>
              <a:gd name="csY3" fmla="*/ 0 h 18288"/>
              <a:gd name="csX4" fmla="*/ 2482499 w 3182691"/>
              <a:gd name="csY4" fmla="*/ 0 h 18288"/>
              <a:gd name="csX5" fmla="*/ 3182691 w 3182691"/>
              <a:gd name="csY5" fmla="*/ 0 h 18288"/>
              <a:gd name="csX6" fmla="*/ 3182691 w 3182691"/>
              <a:gd name="csY6" fmla="*/ 18288 h 18288"/>
              <a:gd name="csX7" fmla="*/ 2609807 w 3182691"/>
              <a:gd name="csY7" fmla="*/ 18288 h 18288"/>
              <a:gd name="csX8" fmla="*/ 2068749 w 3182691"/>
              <a:gd name="csY8" fmla="*/ 18288 h 18288"/>
              <a:gd name="csX9" fmla="*/ 1432211 w 3182691"/>
              <a:gd name="csY9" fmla="*/ 18288 h 18288"/>
              <a:gd name="csX10" fmla="*/ 859327 w 3182691"/>
              <a:gd name="csY10" fmla="*/ 18288 h 18288"/>
              <a:gd name="csX11" fmla="*/ 0 w 3182691"/>
              <a:gd name="csY11" fmla="*/ 18288 h 18288"/>
              <a:gd name="csX12" fmla="*/ 0 w 3182691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706624"/>
            <a:ext cx="5170932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  <a:p>
            <a:endParaRPr lang="en-US" sz="1900">
              <a:ea typeface="Calibri"/>
              <a:cs typeface="Calibri"/>
            </a:endParaRPr>
          </a:p>
          <a:p>
            <a:pPr marL="0" indent="0">
              <a:buNone/>
            </a:pPr>
            <a:endParaRPr lang="en-US" sz="19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AA6D5-6306-EB4B-AAC6-B7300069D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271" y="2413736"/>
            <a:ext cx="3960866" cy="2937741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18F62D-B85B-EEFD-16B9-BA941EF43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70" y="2810220"/>
            <a:ext cx="4346512" cy="25039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7711" y="221673"/>
            <a:ext cx="6288577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ABDBC-3A9D-1D2F-F845-84678145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340" y="310343"/>
            <a:ext cx="5989320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endParaRPr lang="en-US" sz="3500"/>
          </a:p>
        </p:txBody>
      </p:sp>
      <p:pic>
        <p:nvPicPr>
          <p:cNvPr id="3" name="Picture 2" descr="A graph of different emotions&#10;&#10;AI-generated content may be incorrect.">
            <a:extLst>
              <a:ext uri="{FF2B5EF4-FFF2-40B4-BE49-F238E27FC236}">
                <a16:creationId xmlns:a16="http://schemas.microsoft.com/office/drawing/2014/main" id="{882874E9-E92C-321D-C714-6665CD09B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9" y="2519394"/>
            <a:ext cx="4197096" cy="3336691"/>
          </a:xfrm>
          <a:prstGeom prst="rect">
            <a:avLst/>
          </a:prstGeom>
        </p:spPr>
      </p:pic>
      <p:pic>
        <p:nvPicPr>
          <p:cNvPr id="4" name="Content Placeholder 3" descr="A graph of a line graph&#10;&#10;AI-generated content may be incorrect.">
            <a:extLst>
              <a:ext uri="{FF2B5EF4-FFF2-40B4-BE49-F238E27FC236}">
                <a16:creationId xmlns:a16="http://schemas.microsoft.com/office/drawing/2014/main" id="{C679F131-EF9F-580E-3726-59737275F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7726" y="2685962"/>
            <a:ext cx="4197096" cy="316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51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FAB99-9AD9-B817-0431-250A1EB9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0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57614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Izgradnja pipeline-a za klasifikaciju emocija iz slika</vt:lpstr>
      <vt:lpstr>Zašto je FER2013 tehnički izazovan?</vt:lpstr>
      <vt:lpstr>Ulazni podaci</vt:lpstr>
      <vt:lpstr>Pipeline rješenja</vt:lpstr>
      <vt:lpstr>Obrada podataka</vt:lpstr>
      <vt:lpstr>Model (CNN)</vt:lpstr>
      <vt:lpstr>Data Augmentation</vt:lpstr>
      <vt:lpstr>Treniranje modela</vt:lpstr>
      <vt:lpstr>Rezultati</vt:lpstr>
      <vt:lpstr>PowerPoint Presentation</vt:lpstr>
      <vt:lpstr>PowerPoint Presentation</vt:lpstr>
      <vt:lpstr>PowerPoint Presentation</vt:lpstr>
      <vt:lpstr>Evaluacija modela</vt:lpstr>
      <vt:lpstr>PowerPoint Presentation</vt:lpstr>
      <vt:lpstr>Hvala na pažnji!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Izgradnja pipeline-a za klasifikaciju emocija iz slika</dc:title>
  <dc:subject/>
  <dc:creator/>
  <cp:keywords/>
  <dc:description>generated using python-pptx</dc:description>
  <cp:lastModifiedBy>Srđan Machiedo</cp:lastModifiedBy>
  <cp:revision>18</cp:revision>
  <dcterms:created xsi:type="dcterms:W3CDTF">2013-01-27T09:14:16Z</dcterms:created>
  <dcterms:modified xsi:type="dcterms:W3CDTF">2026-01-30T09:24:59Z</dcterms:modified>
  <cp:category/>
</cp:coreProperties>
</file>